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501" r:id="rId6"/>
    <p:sldId id="2147470502" r:id="rId7"/>
    <p:sldId id="2147470494" r:id="rId8"/>
    <p:sldId id="2147470507" r:id="rId9"/>
    <p:sldId id="2147470497" r:id="rId10"/>
    <p:sldId id="2147470504" r:id="rId11"/>
    <p:sldId id="2147470498" r:id="rId12"/>
    <p:sldId id="2147470505" r:id="rId13"/>
    <p:sldId id="2147470500" r:id="rId14"/>
    <p:sldId id="2147470506" r:id="rId15"/>
    <p:sldId id="214747049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 </a:t>
            </a:r>
          </a:p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cs typeface="Calibri" panose="020F0502020204030204" pitchFamily="34" charset="0"/>
              </a:rPr>
              <a:t>Autonomous Multi-Agent Cybersecurity Defense and </a:t>
            </a:r>
          </a:p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cs typeface="Calibri" panose="020F0502020204030204" pitchFamily="34" charset="0"/>
              </a:rPr>
              <a:t>Incident Intelligence Tool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Radha Gohil [T10002]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 algn="just"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  <a:p>
            <a:pPr marL="0" indent="0" algn="just">
              <a:buNone/>
            </a:pPr>
            <a:r>
              <a:rPr lang="en-US" sz="2400" dirty="0">
                <a:solidFill>
                  <a:srgbClr val="5583D1"/>
                </a:solidFill>
                <a:latin typeface="+mn-lt"/>
              </a:rPr>
              <a:t>Existing Challenges: </a:t>
            </a:r>
            <a:r>
              <a:rPr lang="en-US" sz="2400" b="0" dirty="0">
                <a:solidFill>
                  <a:srgbClr val="5583D1"/>
                </a:solidFill>
                <a:latin typeface="+mn-lt"/>
              </a:rPr>
              <a:t>Windows endpoints face malware, ransomware, suspicious processes, malicious network activity, and persistence attacks.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5583D1"/>
                </a:solidFill>
                <a:latin typeface="+mn-lt"/>
              </a:rPr>
              <a:t>Current Limitations: </a:t>
            </a:r>
            <a:r>
              <a:rPr lang="en-US" sz="2400" b="0" dirty="0">
                <a:solidFill>
                  <a:srgbClr val="5583D1"/>
                </a:solidFill>
                <a:latin typeface="+mn-lt"/>
              </a:rPr>
              <a:t>Isolated security alerts make threat correlation, attack understanding, and fast response difficult.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5583D1"/>
                </a:solidFill>
                <a:latin typeface="+mn-lt"/>
              </a:rPr>
              <a:t>Proposed Solution: </a:t>
            </a:r>
            <a:r>
              <a:rPr lang="en-US" sz="2400" b="0" dirty="0">
                <a:solidFill>
                  <a:srgbClr val="5583D1"/>
                </a:solidFill>
                <a:latin typeface="+mn-lt"/>
              </a:rPr>
              <a:t>SENTINEL-X integrates endpoint monitoring, multi-engine threat detection, event correlation, AI-based investigation, and controlled response.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5583D1"/>
                </a:solidFill>
                <a:latin typeface="+mn-lt"/>
              </a:rPr>
              <a:t>Intelligent Decision Support: </a:t>
            </a:r>
            <a:r>
              <a:rPr lang="en-US" sz="2400" b="0" dirty="0">
                <a:solidFill>
                  <a:srgbClr val="5583D1"/>
                </a:solidFill>
                <a:latin typeface="+mn-lt"/>
              </a:rPr>
              <a:t>AI agents support triage, investigation, risk assessment, and response recommendations using correlated threat data.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rgbClr val="5583D1"/>
                </a:solidFill>
                <a:latin typeface="+mn-lt"/>
              </a:rPr>
              <a:t>Overall Benefit</a:t>
            </a:r>
            <a:r>
              <a:rPr lang="en-US" sz="2400" b="0" dirty="0">
                <a:solidFill>
                  <a:srgbClr val="5583D1"/>
                </a:solidFill>
                <a:latin typeface="+mn-lt"/>
              </a:rPr>
              <a:t>: The platform improves threat detection, attack visibility, response speed, and explainable endpoint protection.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 algn="just"/>
            <a:r>
              <a:rPr lang="en-IN" sz="2400" b="0" dirty="0">
                <a:latin typeface="+mn-lt"/>
              </a:rPr>
              <a:t>Monitor file, process, network, and registry activity in real time. </a:t>
            </a:r>
          </a:p>
          <a:p>
            <a:pPr lvl="0" algn="just"/>
            <a:r>
              <a:rPr lang="en-IN" sz="2400" b="0" dirty="0">
                <a:latin typeface="+mn-lt"/>
              </a:rPr>
              <a:t>Detect malware, ransomware, suspicious behaviour, and network threats. </a:t>
            </a:r>
          </a:p>
          <a:p>
            <a:pPr lvl="0" algn="just"/>
            <a:r>
              <a:rPr lang="en-IN" sz="2400" b="0" dirty="0">
                <a:latin typeface="+mn-lt"/>
              </a:rPr>
              <a:t>Use ML, anomaly detection, and behavioural analysis for threat detection. </a:t>
            </a:r>
          </a:p>
          <a:p>
            <a:pPr lvl="0" algn="just"/>
            <a:r>
              <a:rPr lang="en-IN" sz="2400" b="0" dirty="0">
                <a:latin typeface="+mn-lt"/>
              </a:rPr>
              <a:t>Correlate events and generate a unified threat score. </a:t>
            </a:r>
          </a:p>
          <a:p>
            <a:pPr lvl="0" algn="just"/>
            <a:r>
              <a:rPr lang="en-IN" sz="2400" b="0" dirty="0">
                <a:latin typeface="+mn-lt"/>
              </a:rPr>
              <a:t>Use AI agents for investigation, risk assessment, and response recommendations. </a:t>
            </a:r>
          </a:p>
          <a:p>
            <a:pPr lvl="0" algn="just"/>
            <a:r>
              <a:rPr lang="en-IN" sz="2400" b="0" dirty="0">
                <a:latin typeface="+mn-lt"/>
              </a:rPr>
              <a:t>Provide explainable and controlled threat response. </a:t>
            </a:r>
          </a:p>
          <a:p>
            <a:pPr lvl="0" algn="just"/>
            <a:r>
              <a:rPr lang="en-IN" sz="2400" b="0" dirty="0">
                <a:latin typeface="+mn-lt"/>
              </a:rPr>
              <a:t>Build an installable Windows endpoint security application.</a:t>
            </a:r>
          </a:p>
          <a:p>
            <a:pPr algn="just">
              <a:lnSpc>
                <a:spcPct val="150000"/>
              </a:lnSpc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….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dirty="0">
                <a:latin typeface="+mn-lt"/>
              </a:rPr>
              <a:t>Module 1: Endpoint Telemetry Collection - </a:t>
            </a:r>
            <a:r>
              <a:rPr lang="en-IN" sz="2400" b="0" dirty="0">
                <a:latin typeface="+mn-lt"/>
              </a:rPr>
              <a:t>Real-Time System Monitoring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• Process start/stop and parent-child monitoring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• File create, modify, rename and delete monitoring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• Network connection monitoring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• Registry and startup activity monitoring</a:t>
            </a:r>
          </a:p>
          <a:p>
            <a:pPr marL="0" indent="0">
              <a:buNone/>
            </a:pPr>
            <a:endParaRPr lang="en-IN" sz="2400" b="0" dirty="0">
              <a:latin typeface="+mn-lt"/>
            </a:endParaRPr>
          </a:p>
          <a:p>
            <a:pPr marL="0" indent="0">
              <a:buNone/>
            </a:pPr>
            <a:r>
              <a:rPr lang="en-IN" sz="2400" dirty="0">
                <a:latin typeface="+mn-lt"/>
              </a:rPr>
              <a:t>Module 2: Malware &amp; Threat Detection- </a:t>
            </a:r>
            <a:r>
              <a:rPr lang="en-IN" sz="2400" b="0" dirty="0">
                <a:latin typeface="+mn-lt"/>
              </a:rPr>
              <a:t>Multi-Engine Security Detection</a:t>
            </a:r>
          </a:p>
          <a:p>
            <a:pPr marL="0" indent="0">
              <a:buNone/>
            </a:pPr>
            <a:r>
              <a:rPr lang="en-IN" sz="2400" b="0" dirty="0">
                <a:latin typeface="+mn-lt"/>
              </a:rPr>
              <a:t>• Static PE malware analysis using hashes, entropy, sections, imports and exports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• ML-based malware and network attack detection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• Behavioural, anomaly and ransomware detection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• Threat type, confidence, severity and risk prediction</a:t>
            </a:r>
          </a:p>
          <a:p>
            <a:pPr marL="0" indent="0">
              <a:buNone/>
            </a:pPr>
            <a:endParaRPr lang="en-IN" sz="2400" dirty="0"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 </a:t>
            </a: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Modules to cover…. </a:t>
            </a:r>
          </a:p>
          <a:p>
            <a:pPr lvl="0"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0607D-7C69-AE37-0557-56FE31D8D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4A11F1-DF68-0860-9E7F-E3840DD301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dirty="0"/>
              <a:t>Module 3: Detection Fusion &amp; Correlation </a:t>
            </a:r>
            <a:r>
              <a:rPr lang="en-IN" sz="2400" b="0" dirty="0"/>
              <a:t>- Unified Threat Analysis</a:t>
            </a:r>
            <a:br>
              <a:rPr lang="en-IN" sz="2400" b="0" dirty="0"/>
            </a:br>
            <a:r>
              <a:rPr lang="en-IN" sz="2400" b="0" dirty="0"/>
              <a:t>• Combine outputs from multiple detection engines</a:t>
            </a:r>
            <a:br>
              <a:rPr lang="en-IN" sz="2400" b="0" dirty="0"/>
            </a:br>
            <a:r>
              <a:rPr lang="en-IN" sz="2400" b="0" dirty="0"/>
              <a:t>• Generate a unified threat score</a:t>
            </a:r>
            <a:br>
              <a:rPr lang="en-IN" sz="2400" b="0" dirty="0"/>
            </a:br>
            <a:r>
              <a:rPr lang="en-IN" sz="2400" b="0" dirty="0"/>
              <a:t>• Correlate file, process, network and registry events</a:t>
            </a:r>
            <a:br>
              <a:rPr lang="en-IN" sz="2400" b="0" dirty="0"/>
            </a:br>
            <a:r>
              <a:rPr lang="en-IN" sz="2400" b="0" dirty="0"/>
              <a:t>• Identify related suspicious activities and attack patterns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Module 4: Threat Investigation </a:t>
            </a:r>
            <a:r>
              <a:rPr lang="en-IN" sz="2400" b="0" dirty="0"/>
              <a:t>-  Attack Intelligence &amp; Analysis</a:t>
            </a:r>
            <a:br>
              <a:rPr lang="en-IN" sz="2400" b="0" dirty="0"/>
            </a:br>
            <a:r>
              <a:rPr lang="en-IN" sz="2400" b="0" dirty="0"/>
              <a:t>• IOC and event-history analysis</a:t>
            </a:r>
            <a:br>
              <a:rPr lang="en-IN" sz="2400" b="0" dirty="0"/>
            </a:br>
            <a:r>
              <a:rPr lang="en-IN" sz="2400" b="0" dirty="0"/>
              <a:t>• MITRE ATT&amp;CK mapping</a:t>
            </a:r>
            <a:br>
              <a:rPr lang="en-IN" sz="2400" b="0" dirty="0"/>
            </a:br>
            <a:r>
              <a:rPr lang="en-IN" sz="2400" b="0" dirty="0"/>
              <a:t>• CVE and vulnerability context where applicable</a:t>
            </a:r>
            <a:br>
              <a:rPr lang="en-IN" sz="2400" b="0" dirty="0"/>
            </a:br>
            <a:r>
              <a:rPr lang="en-IN" sz="2400" b="0" dirty="0"/>
              <a:t>• Attack timeline and attack-graph generation</a:t>
            </a:r>
          </a:p>
          <a:p>
            <a:pPr marL="0" indent="0">
              <a:buNone/>
            </a:pPr>
            <a:endParaRPr lang="en-IN" sz="2400" dirty="0"/>
          </a:p>
          <a:p>
            <a:pPr lvl="1"/>
            <a:endParaRPr lang="en-US" dirty="0">
              <a:solidFill>
                <a:srgbClr val="1C3898"/>
              </a:solidFill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11A181-F833-C948-DAB2-F12C8B072C02}"/>
              </a:ext>
            </a:extLst>
          </p:cNvPr>
          <p:cNvSpPr txBox="1"/>
          <p:nvPr/>
        </p:nvSpPr>
        <p:spPr>
          <a:xfrm>
            <a:off x="255996" y="502545"/>
            <a:ext cx="10624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Modules to cover…. </a:t>
            </a:r>
          </a:p>
          <a:p>
            <a:pPr lvl="0"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585B7F-8B2C-F722-F59D-EE423F21B7C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881E81E-BEE5-CADD-AA38-60B14D2E40E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079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6249A-23E9-13F6-DAC2-BA0F918CF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9EBE78-89CD-E6E6-AD76-9C2DBBAF92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dirty="0"/>
              <a:t>Module 5: AI Agent Intelligence </a:t>
            </a:r>
            <a:r>
              <a:rPr lang="en-IN" sz="2400" b="0" dirty="0"/>
              <a:t>-  Autonomous Security Analysis</a:t>
            </a:r>
            <a:br>
              <a:rPr lang="en-IN" sz="2400" b="0" dirty="0"/>
            </a:br>
            <a:r>
              <a:rPr lang="en-IN" sz="2400" b="0" dirty="0"/>
              <a:t>• Triage Agent for alert prioritization</a:t>
            </a:r>
            <a:br>
              <a:rPr lang="en-IN" sz="2400" b="0" dirty="0"/>
            </a:br>
            <a:r>
              <a:rPr lang="en-IN" sz="2400" b="0" dirty="0"/>
              <a:t>• Correlation Agent for linking related events</a:t>
            </a:r>
            <a:br>
              <a:rPr lang="en-IN" sz="2400" b="0" dirty="0"/>
            </a:br>
            <a:r>
              <a:rPr lang="en-IN" sz="2400" b="0" dirty="0"/>
              <a:t>• Investigation Agent for attack analysis</a:t>
            </a:r>
            <a:br>
              <a:rPr lang="en-IN" sz="2400" b="0" dirty="0"/>
            </a:br>
            <a:r>
              <a:rPr lang="en-IN" sz="2400" b="0" dirty="0"/>
              <a:t>• Risk Agent for severity and impact assessment</a:t>
            </a:r>
            <a:br>
              <a:rPr lang="en-IN" sz="2400" b="0" dirty="0"/>
            </a:br>
            <a:r>
              <a:rPr lang="en-IN" sz="2400" b="0" dirty="0"/>
              <a:t>• Response Agent for remediation recommendations</a:t>
            </a:r>
          </a:p>
          <a:p>
            <a:pPr marL="0" indent="0">
              <a:buNone/>
            </a:pPr>
            <a:endParaRPr lang="en-IN" sz="2400" b="0" dirty="0"/>
          </a:p>
          <a:p>
            <a:pPr marL="0" indent="0">
              <a:buNone/>
            </a:pPr>
            <a:r>
              <a:rPr lang="en-IN" sz="2400" dirty="0"/>
              <a:t>Module 6: Response &amp; Remediation </a:t>
            </a:r>
            <a:r>
              <a:rPr lang="en-IN" sz="2400" b="0" dirty="0"/>
              <a:t>-  Controlled Threat Response</a:t>
            </a:r>
            <a:br>
              <a:rPr lang="en-IN" sz="2400" b="0" dirty="0"/>
            </a:br>
            <a:r>
              <a:rPr lang="en-IN" sz="2400" b="0" dirty="0"/>
              <a:t>• File quarantine and restoration</a:t>
            </a:r>
            <a:br>
              <a:rPr lang="en-IN" sz="2400" b="0" dirty="0"/>
            </a:br>
            <a:r>
              <a:rPr lang="en-IN" sz="2400" b="0" dirty="0"/>
              <a:t>• Suspicious process termination</a:t>
            </a:r>
            <a:br>
              <a:rPr lang="en-IN" sz="2400" b="0" dirty="0"/>
            </a:br>
            <a:r>
              <a:rPr lang="en-IN" sz="2400" b="0" dirty="0"/>
              <a:t>• Network/IP blocking</a:t>
            </a:r>
            <a:br>
              <a:rPr lang="en-IN" sz="2400" b="0" dirty="0"/>
            </a:br>
            <a:r>
              <a:rPr lang="en-IN" sz="2400" b="0" dirty="0"/>
              <a:t>• Persistence cleanup and rescan actions</a:t>
            </a:r>
            <a:br>
              <a:rPr lang="en-IN" sz="2400" b="0" dirty="0"/>
            </a:br>
            <a:r>
              <a:rPr lang="en-IN" sz="2400" b="0" dirty="0"/>
              <a:t>• Policy/user-controlled approval before sensitive actions</a:t>
            </a:r>
          </a:p>
          <a:p>
            <a:pPr lvl="1"/>
            <a:endParaRPr lang="en-US" dirty="0">
              <a:solidFill>
                <a:srgbClr val="1C3898"/>
              </a:solidFill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FFB330-B358-7435-B6F1-B94FE82263C8}"/>
              </a:ext>
            </a:extLst>
          </p:cNvPr>
          <p:cNvSpPr txBox="1"/>
          <p:nvPr/>
        </p:nvSpPr>
        <p:spPr>
          <a:xfrm>
            <a:off x="221274" y="591591"/>
            <a:ext cx="10624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Modules to cover…. </a:t>
            </a:r>
          </a:p>
          <a:p>
            <a:pPr lvl="0"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2843E0-732B-93B1-7C01-10DC7C2154E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510B7CC-F25A-F135-7DEF-8B989EF8E36E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874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7" y="1312261"/>
            <a:ext cx="11781106" cy="4638834"/>
          </a:xfrm>
        </p:spPr>
        <p:txBody>
          <a:bodyPr/>
          <a:lstStyle/>
          <a:p>
            <a:pPr lvl="0"/>
            <a:r>
              <a:rPr lang="en-IN" sz="2000" dirty="0">
                <a:latin typeface="+mn-lt"/>
              </a:rPr>
              <a:t>Hybrid Detection Architecture: </a:t>
            </a:r>
            <a:r>
              <a:rPr lang="en-IN" sz="2000" b="0" dirty="0">
                <a:latin typeface="+mn-lt"/>
              </a:rPr>
              <a:t>Combines machine learning, behavioural rules, statistical anomaly detection, and event correlation instead of relying on a single detection method. </a:t>
            </a:r>
          </a:p>
          <a:p>
            <a:pPr lvl="0"/>
            <a:r>
              <a:rPr lang="en-IN" sz="2000" dirty="0">
                <a:latin typeface="+mn-lt"/>
              </a:rPr>
              <a:t>Multi-Source Monitoring</a:t>
            </a:r>
            <a:r>
              <a:rPr lang="en-IN" sz="2000" b="0" dirty="0">
                <a:latin typeface="+mn-lt"/>
              </a:rPr>
              <a:t>: Processes endpoint, network, authentication, file, registry, email, and exfiltration-related security activity. </a:t>
            </a:r>
          </a:p>
          <a:p>
            <a:pPr lvl="0"/>
            <a:r>
              <a:rPr lang="en-IN" sz="2000" dirty="0">
                <a:latin typeface="+mn-lt"/>
              </a:rPr>
              <a:t>Threat Detection Engines: </a:t>
            </a:r>
            <a:r>
              <a:rPr lang="en-IN" sz="2000" b="0" dirty="0">
                <a:latin typeface="+mn-lt"/>
              </a:rPr>
              <a:t>Uses specialized modules for malware, phishing, brute-force behaviour, ransomware-like activity, network anomalies, exfiltration, and unknown behavioural anomalies. </a:t>
            </a:r>
          </a:p>
          <a:p>
            <a:pPr lvl="0"/>
            <a:r>
              <a:rPr lang="en-IN" sz="2000" dirty="0">
                <a:latin typeface="+mn-lt"/>
              </a:rPr>
              <a:t>Event Correlation</a:t>
            </a:r>
            <a:r>
              <a:rPr lang="en-IN" sz="2000" b="0" dirty="0">
                <a:latin typeface="+mn-lt"/>
              </a:rPr>
              <a:t>: Links related security events using common entities such as process IDs, file paths, hashes, remote IPs, event categories, and time proximity. </a:t>
            </a:r>
          </a:p>
          <a:p>
            <a:pPr lvl="0"/>
            <a:r>
              <a:rPr lang="en-IN" sz="2000" dirty="0">
                <a:latin typeface="+mn-lt"/>
              </a:rPr>
              <a:t>Incident Creation: </a:t>
            </a:r>
            <a:r>
              <a:rPr lang="en-IN" sz="2000" b="0" dirty="0">
                <a:latin typeface="+mn-lt"/>
              </a:rPr>
              <a:t>Correlated suspicious activities are grouped into a single incident for deeper investigation instead of treating every alert independently.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55996" y="1111439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23AF7-40E3-16F8-73A0-29A245504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EF03F4-06F1-1B70-BC54-32EC6ABCFF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5675" y="1312261"/>
            <a:ext cx="11736325" cy="4434300"/>
          </a:xfrm>
        </p:spPr>
        <p:txBody>
          <a:bodyPr/>
          <a:lstStyle/>
          <a:p>
            <a:pPr lvl="0"/>
            <a:r>
              <a:rPr lang="en-IN" sz="2000" dirty="0">
                <a:latin typeface="+mn-lt"/>
              </a:rPr>
              <a:t>Multi-Agent Investigation: </a:t>
            </a:r>
            <a:r>
              <a:rPr lang="en-IN" sz="2000" b="0" dirty="0">
                <a:latin typeface="+mn-lt"/>
              </a:rPr>
              <a:t>Triage, investigation, risk, and response agents </a:t>
            </a:r>
            <a:r>
              <a:rPr lang="en-IN" sz="2000" b="0" dirty="0" err="1">
                <a:latin typeface="+mn-lt"/>
              </a:rPr>
              <a:t>analyze</a:t>
            </a:r>
            <a:r>
              <a:rPr lang="en-IN" sz="2000" b="0" dirty="0">
                <a:latin typeface="+mn-lt"/>
              </a:rPr>
              <a:t> the same incident context and generate coordinated security decisions. </a:t>
            </a:r>
          </a:p>
          <a:p>
            <a:pPr lvl="0"/>
            <a:r>
              <a:rPr lang="en-IN" sz="2000" dirty="0">
                <a:latin typeface="+mn-lt"/>
              </a:rPr>
              <a:t>Risk Assessment: </a:t>
            </a:r>
            <a:r>
              <a:rPr lang="en-IN" sz="2000" b="0" dirty="0">
                <a:latin typeface="+mn-lt"/>
              </a:rPr>
              <a:t>Calculates incident severity and risk using evidence, correlation strength, event diversity, and agent findings. </a:t>
            </a:r>
          </a:p>
          <a:p>
            <a:pPr lvl="0"/>
            <a:r>
              <a:rPr lang="en-IN" sz="2000" dirty="0">
                <a:latin typeface="+mn-lt"/>
              </a:rPr>
              <a:t>Digital Twin Simulation: </a:t>
            </a:r>
            <a:r>
              <a:rPr lang="en-IN" sz="2000" b="0" dirty="0">
                <a:latin typeface="+mn-lt"/>
              </a:rPr>
              <a:t>Evaluates multiple response plans virtually before recommending any action to the real endpoint. </a:t>
            </a:r>
          </a:p>
          <a:p>
            <a:pPr lvl="0"/>
            <a:r>
              <a:rPr lang="en-IN" sz="2000" dirty="0">
                <a:latin typeface="+mn-lt"/>
              </a:rPr>
              <a:t>Human-in-the-Loop Response: </a:t>
            </a:r>
            <a:r>
              <a:rPr lang="en-IN" sz="2000" b="0" dirty="0">
                <a:latin typeface="+mn-lt"/>
              </a:rPr>
              <a:t>High-impact actions require analyst approval, allowing the SOC analyst to approve or reject the recommended response. </a:t>
            </a:r>
          </a:p>
          <a:p>
            <a:pPr lvl="0"/>
            <a:r>
              <a:rPr lang="en-IN" sz="2000" dirty="0">
                <a:latin typeface="+mn-lt"/>
              </a:rPr>
              <a:t>Mitigation Verification: </a:t>
            </a:r>
            <a:r>
              <a:rPr lang="en-IN" sz="2000" b="0" dirty="0">
                <a:latin typeface="+mn-lt"/>
              </a:rPr>
              <a:t>Compares the modelled security state before and after the simulated response to determine whether risk has been reduced. </a:t>
            </a:r>
          </a:p>
          <a:p>
            <a:pPr lvl="0"/>
            <a:r>
              <a:rPr lang="en-IN" sz="2000" dirty="0">
                <a:latin typeface="+mn-lt"/>
              </a:rPr>
              <a:t>Explainable SOC Workflow: </a:t>
            </a:r>
            <a:r>
              <a:rPr lang="en-IN" sz="2000" b="0" dirty="0">
                <a:latin typeface="+mn-lt"/>
              </a:rPr>
              <a:t>Evidence, attack timeline, agent reasoning, response plans, tickets, and verification results are displayed through the SENTINEL-X dashboard.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67A085-C7C5-CE11-E5D8-187AE6FC932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90DEDA-8CE1-785E-43D4-BB45D842C969}"/>
              </a:ext>
            </a:extLst>
          </p:cNvPr>
          <p:cNvCxnSpPr>
            <a:cxnSpLocks/>
          </p:cNvCxnSpPr>
          <p:nvPr/>
        </p:nvCxnSpPr>
        <p:spPr>
          <a:xfrm>
            <a:off x="255996" y="1111439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D65EEC9-3C7B-49B8-680B-BE5C1D1A5F2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688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523255"/>
            <a:ext cx="12192000" cy="4142989"/>
          </a:xfrm>
        </p:spPr>
        <p:txBody>
          <a:bodyPr/>
          <a:lstStyle/>
          <a:p>
            <a:pPr lvl="0" algn="just"/>
            <a:r>
              <a:rPr lang="en-IN" sz="2000" dirty="0">
                <a:latin typeface="+mn-lt"/>
              </a:rPr>
              <a:t>Security Telemetry: </a:t>
            </a:r>
            <a:r>
              <a:rPr lang="en-IN" sz="2000" b="0" dirty="0">
                <a:latin typeface="+mn-lt"/>
              </a:rPr>
              <a:t>Collects and organizes process, file, network, authentication, registry, email, and outbound-activity events. </a:t>
            </a:r>
          </a:p>
          <a:p>
            <a:pPr lvl="0" algn="just"/>
            <a:r>
              <a:rPr lang="en-IN" sz="2000" dirty="0">
                <a:latin typeface="+mn-lt"/>
              </a:rPr>
              <a:t>Event Normalization: </a:t>
            </a:r>
            <a:r>
              <a:rPr lang="en-IN" sz="2000" b="0" dirty="0">
                <a:latin typeface="+mn-lt"/>
              </a:rPr>
              <a:t>Converts different security logs into a common SecurityEvent structure for consistent analysis across detection modules. </a:t>
            </a:r>
          </a:p>
          <a:p>
            <a:pPr lvl="0" algn="just"/>
            <a:r>
              <a:rPr lang="en-IN" sz="2000" dirty="0">
                <a:latin typeface="+mn-lt"/>
              </a:rPr>
              <a:t>Threat Feature Extraction: </a:t>
            </a:r>
            <a:r>
              <a:rPr lang="en-IN" sz="2000" b="0" dirty="0">
                <a:latin typeface="+mn-lt"/>
              </a:rPr>
              <a:t>Extracts indicators such as process ID, destination IP, connection count, failed logins, transferred bytes, file paths, hashes, and event severity. </a:t>
            </a:r>
          </a:p>
          <a:p>
            <a:pPr lvl="0" algn="just"/>
            <a:r>
              <a:rPr lang="en-IN" sz="2000" dirty="0">
                <a:latin typeface="+mn-lt"/>
              </a:rPr>
              <a:t>Behavioural Profiling: </a:t>
            </a:r>
            <a:r>
              <a:rPr lang="en-IN" sz="2000" b="0" dirty="0">
                <a:latin typeface="+mn-lt"/>
              </a:rPr>
              <a:t>Builds short-term behaviour patterns for processes and devices to identify unusual activity such as connection bursts, repeated failures, or abnormal transfers. </a:t>
            </a:r>
          </a:p>
          <a:p>
            <a:pPr lvl="0" algn="just"/>
            <a:r>
              <a:rPr lang="en-IN" sz="2000" dirty="0">
                <a:latin typeface="+mn-lt"/>
              </a:rPr>
              <a:t>Suspicious Pattern Analysis</a:t>
            </a:r>
            <a:r>
              <a:rPr lang="en-IN" sz="2000" b="0" dirty="0">
                <a:latin typeface="+mn-lt"/>
              </a:rPr>
              <a:t>: Examines repeated authentication failures, unusual network destinations, suspicious process-file relationships, beaconing patterns, and high-volume outbound activity.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0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41377-17D3-0BF5-FC14-F87D4840A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B84AA1-B70C-C0F3-D1C4-A5D536A986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440847"/>
            <a:ext cx="10624338" cy="4142989"/>
          </a:xfrm>
        </p:spPr>
        <p:txBody>
          <a:bodyPr/>
          <a:lstStyle/>
          <a:p>
            <a:pPr lvl="0" algn="just"/>
            <a:r>
              <a:rPr lang="en-IN" sz="2000" dirty="0">
                <a:latin typeface="+mn-lt"/>
              </a:rPr>
              <a:t>Event Correlation Analysis: </a:t>
            </a:r>
            <a:r>
              <a:rPr lang="en-IN" sz="2000" b="0" dirty="0">
                <a:latin typeface="+mn-lt"/>
              </a:rPr>
              <a:t>Studies relationships between process, file, network, registry, and authentication events to identify multi-stage attack behaviour. </a:t>
            </a:r>
          </a:p>
          <a:p>
            <a:pPr lvl="0" algn="just"/>
            <a:r>
              <a:rPr lang="en-IN" sz="2000" dirty="0">
                <a:latin typeface="+mn-lt"/>
              </a:rPr>
              <a:t>Severity &amp; Risk Analysis: </a:t>
            </a:r>
            <a:r>
              <a:rPr lang="en-IN" sz="2000" b="0" dirty="0">
                <a:latin typeface="+mn-lt"/>
              </a:rPr>
              <a:t>Analyses the distribution of INFO, LOW, MEDIUM, HIGH, and CRITICAL events to prioritize incidents. </a:t>
            </a:r>
          </a:p>
          <a:p>
            <a:pPr lvl="0" algn="just"/>
            <a:r>
              <a:rPr lang="en-IN" sz="2000" dirty="0">
                <a:latin typeface="+mn-lt"/>
              </a:rPr>
              <a:t>Anomaly Analysis: </a:t>
            </a:r>
            <a:r>
              <a:rPr lang="en-IN" sz="2000" b="0" dirty="0">
                <a:latin typeface="+mn-lt"/>
              </a:rPr>
              <a:t>Uses statistical deviation from historical behaviour to detect unknown or previously unseen suspicious activity. </a:t>
            </a:r>
          </a:p>
          <a:p>
            <a:pPr lvl="0" algn="just"/>
            <a:r>
              <a:rPr lang="en-IN" sz="2000" dirty="0">
                <a:latin typeface="+mn-lt"/>
              </a:rPr>
              <a:t>Incident-Level EDA: </a:t>
            </a:r>
            <a:r>
              <a:rPr lang="en-IN" sz="2000" b="0" dirty="0">
                <a:latin typeface="+mn-lt"/>
              </a:rPr>
              <a:t>Examines event count, attack categories, related entities, correlation scores, evidence density, and incident risk levels. </a:t>
            </a:r>
          </a:p>
          <a:p>
            <a:pPr lvl="0" algn="just"/>
            <a:r>
              <a:rPr lang="en-IN" sz="2000" dirty="0">
                <a:latin typeface="+mn-lt"/>
              </a:rPr>
              <a:t>SOC Intelligence Preparation: </a:t>
            </a:r>
            <a:r>
              <a:rPr lang="en-IN" sz="2000" b="0" dirty="0">
                <a:latin typeface="+mn-lt"/>
              </a:rPr>
              <a:t>Pre-processed and correlated data is passed to the multi-agent investigation, risk-assessment, Digital Twin, and response-planning modules.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0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E6E60A-E98F-FA42-3B4A-617EA79E5756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CABEAB-D807-A07A-4587-AB4ABBE2B8E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3F69102-5621-A20B-1295-A1CAC1784B2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372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7" y="1406130"/>
            <a:ext cx="11936004" cy="4499992"/>
          </a:xfrm>
        </p:spPr>
        <p:txBody>
          <a:bodyPr/>
          <a:lstStyle/>
          <a:p>
            <a:pPr lvl="0"/>
            <a:r>
              <a:rPr lang="en-IN" sz="2000" dirty="0">
                <a:latin typeface="+mn-lt"/>
              </a:rPr>
              <a:t>Approach: </a:t>
            </a:r>
            <a:r>
              <a:rPr lang="en-IN" sz="2000" b="0" dirty="0">
                <a:latin typeface="+mn-lt"/>
              </a:rPr>
              <a:t>Hybrid cybersecurity architecture combining ML-based detection, behavioural analysis, statistical anomaly detection, event correlation, multi-agent investigation, and Digital Twin-based response planning. </a:t>
            </a:r>
          </a:p>
          <a:p>
            <a:pPr lvl="0"/>
            <a:r>
              <a:rPr lang="en-IN" sz="2000" dirty="0">
                <a:latin typeface="+mn-lt"/>
              </a:rPr>
              <a:t>Detection Algorithms: </a:t>
            </a:r>
            <a:r>
              <a:rPr lang="en-IN" sz="2000" b="0" dirty="0">
                <a:latin typeface="+mn-lt"/>
              </a:rPr>
              <a:t>Uses XGBoost/Random Forest for malware classification, rule-based behavioural detection for suspicious process/network/authentication activity, and statistical anomaly detection for unknown behaviour. </a:t>
            </a:r>
          </a:p>
          <a:p>
            <a:pPr lvl="0"/>
            <a:r>
              <a:rPr lang="en-IN" sz="2000" dirty="0">
                <a:latin typeface="+mn-lt"/>
              </a:rPr>
              <a:t>Correlation Logic: </a:t>
            </a:r>
            <a:r>
              <a:rPr lang="en-IN" sz="2000" b="0" dirty="0">
                <a:latin typeface="+mn-lt"/>
              </a:rPr>
              <a:t>Applies deterministic correlation rules using process IDs, file paths, hashes, remote IPs, event categories, severity, and time-window relationships. </a:t>
            </a:r>
          </a:p>
          <a:p>
            <a:pPr lvl="0"/>
            <a:r>
              <a:rPr lang="en-IN" sz="2000" dirty="0">
                <a:latin typeface="+mn-lt"/>
              </a:rPr>
              <a:t>Risk Assessment: </a:t>
            </a:r>
            <a:r>
              <a:rPr lang="en-IN" sz="2000" b="0" dirty="0">
                <a:latin typeface="+mn-lt"/>
              </a:rPr>
              <a:t>Uses heuristic risk scoring based on incident severity, evidence strength, correlated activity, and agent findings. </a:t>
            </a:r>
          </a:p>
          <a:p>
            <a:pPr lvl="0"/>
            <a:r>
              <a:rPr lang="en-IN" sz="2000" dirty="0">
                <a:latin typeface="+mn-lt"/>
              </a:rPr>
              <a:t>Multi-Agent System</a:t>
            </a:r>
            <a:r>
              <a:rPr lang="en-IN" sz="2000" b="0" dirty="0">
                <a:latin typeface="+mn-lt"/>
              </a:rPr>
              <a:t>: Includes Triage, Investigation, Risk Assessment, Correlation, and Response agents working on shared incident context.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8535A-3D89-BB6A-2D98-4A9F5BCC3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3B969F-780C-93E7-125F-F884C18DD2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1274" y="1406130"/>
            <a:ext cx="12100641" cy="4499992"/>
          </a:xfrm>
        </p:spPr>
        <p:txBody>
          <a:bodyPr/>
          <a:lstStyle/>
          <a:p>
            <a:pPr lvl="0"/>
            <a:r>
              <a:rPr lang="en-IN" sz="2000" dirty="0">
                <a:latin typeface="+mn-lt"/>
              </a:rPr>
              <a:t>Digital Twin Algorithm: </a:t>
            </a:r>
            <a:r>
              <a:rPr lang="en-IN" sz="2000" b="0" dirty="0">
                <a:latin typeface="+mn-lt"/>
              </a:rPr>
              <a:t>Compares candidate response plans using </a:t>
            </a:r>
            <a:r>
              <a:rPr lang="en-IN" sz="2000" b="0" dirty="0" err="1">
                <a:latin typeface="+mn-lt"/>
              </a:rPr>
              <a:t>modeled</a:t>
            </a:r>
            <a:r>
              <a:rPr lang="en-IN" sz="2000" b="0" dirty="0">
                <a:latin typeface="+mn-lt"/>
              </a:rPr>
              <a:t> residual risk, risk reduction, operational impact, and plan score. </a:t>
            </a:r>
          </a:p>
          <a:p>
            <a:pPr lvl="0"/>
            <a:r>
              <a:rPr lang="en-IN" sz="2000" dirty="0">
                <a:latin typeface="+mn-lt"/>
              </a:rPr>
              <a:t>Mitigation Verification: </a:t>
            </a:r>
            <a:r>
              <a:rPr lang="en-IN" sz="2000" b="0" dirty="0">
                <a:latin typeface="+mn-lt"/>
              </a:rPr>
              <a:t>Uses weighted before/after comparison of risk score, suspicious events, active indicators, and exposure score. </a:t>
            </a:r>
          </a:p>
          <a:p>
            <a:pPr lvl="0"/>
            <a:r>
              <a:rPr lang="en-IN" sz="2000" dirty="0">
                <a:latin typeface="+mn-lt"/>
              </a:rPr>
              <a:t>Backend Tools: </a:t>
            </a:r>
            <a:r>
              <a:rPr lang="en-IN" sz="2000" b="0" dirty="0">
                <a:latin typeface="+mn-lt"/>
              </a:rPr>
              <a:t>Python, Fast API, SQLite/PostgreSQL, REST APIs. </a:t>
            </a:r>
          </a:p>
          <a:p>
            <a:pPr lvl="0"/>
            <a:r>
              <a:rPr lang="en-IN" sz="2000" dirty="0">
                <a:latin typeface="+mn-lt"/>
              </a:rPr>
              <a:t>Frontend Tools: </a:t>
            </a:r>
            <a:r>
              <a:rPr lang="en-IN" sz="2000" b="0" dirty="0">
                <a:latin typeface="+mn-lt"/>
              </a:rPr>
              <a:t>React, Vite, CSS, and SOC dashboard components. </a:t>
            </a:r>
          </a:p>
          <a:p>
            <a:pPr lvl="0"/>
            <a:r>
              <a:rPr lang="en-IN" sz="2000" dirty="0">
                <a:latin typeface="+mn-lt"/>
              </a:rPr>
              <a:t>ML / Data Tools: </a:t>
            </a:r>
            <a:r>
              <a:rPr lang="en-IN" sz="2000" b="0" dirty="0">
                <a:latin typeface="+mn-lt"/>
              </a:rPr>
              <a:t>Pandas, NumPy, scikit-learn, XGBoost, LIEF, and joblib/pickle for model persistence. </a:t>
            </a:r>
          </a:p>
          <a:p>
            <a:pPr lvl="0"/>
            <a:r>
              <a:rPr lang="en-IN" sz="2000" dirty="0">
                <a:latin typeface="+mn-lt"/>
              </a:rPr>
              <a:t>System Monitoring Tools: </a:t>
            </a:r>
            <a:r>
              <a:rPr lang="en-IN" sz="2000" b="0" dirty="0">
                <a:latin typeface="+mn-lt"/>
              </a:rPr>
              <a:t>psutil and custom endpoint collectors for process, file, network, authentication, and registry telemetry. </a:t>
            </a:r>
          </a:p>
          <a:p>
            <a:pPr lvl="0"/>
            <a:r>
              <a:rPr lang="en-IN" sz="2000" dirty="0">
                <a:latin typeface="+mn-lt"/>
              </a:rPr>
              <a:t>Development Tools: </a:t>
            </a:r>
            <a:r>
              <a:rPr lang="en-IN" sz="2000" b="0" dirty="0">
                <a:latin typeface="+mn-lt"/>
              </a:rPr>
              <a:t>Git, GitHub, VS Code, Postman/Swagger for API testing.</a:t>
            </a:r>
          </a:p>
          <a:p>
            <a:pPr marL="0" indent="0">
              <a:buNone/>
            </a:pPr>
            <a:endParaRPr lang="en-US" sz="20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CE651A-39D2-733C-EFFC-BD35D18421E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B6CE931-ED25-D18B-9F10-A436420020C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09AD91F-F3E8-9982-FC00-DE2F44809C4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454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plan/Milestone Progress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9A3385E-4151-F26E-DA88-7D8FC5264C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238356"/>
              </p:ext>
            </p:extLst>
          </p:nvPr>
        </p:nvGraphicFramePr>
        <p:xfrm>
          <a:off x="416146" y="1234636"/>
          <a:ext cx="11650935" cy="4529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83645">
                  <a:extLst>
                    <a:ext uri="{9D8B030D-6E8A-4147-A177-3AD203B41FA5}">
                      <a16:colId xmlns:a16="http://schemas.microsoft.com/office/drawing/2014/main" val="1626725249"/>
                    </a:ext>
                  </a:extLst>
                </a:gridCol>
                <a:gridCol w="3883645">
                  <a:extLst>
                    <a:ext uri="{9D8B030D-6E8A-4147-A177-3AD203B41FA5}">
                      <a16:colId xmlns:a16="http://schemas.microsoft.com/office/drawing/2014/main" val="2697246095"/>
                    </a:ext>
                  </a:extLst>
                </a:gridCol>
                <a:gridCol w="3883645">
                  <a:extLst>
                    <a:ext uri="{9D8B030D-6E8A-4147-A177-3AD203B41FA5}">
                      <a16:colId xmlns:a16="http://schemas.microsoft.com/office/drawing/2014/main" val="2577385552"/>
                    </a:ext>
                  </a:extLst>
                </a:gridCol>
              </a:tblGrid>
              <a:tr h="505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Milestone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Key Work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Progress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4131679"/>
                  </a:ext>
                </a:extLst>
              </a:tr>
              <a:tr h="505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1. Telemetry &amp; Data Preparation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Process, file, network, authentication, registry, email and security-event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715194"/>
                  </a:ext>
                </a:extLst>
              </a:tr>
              <a:tr h="505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2. Detection Engine Development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Malware ML, phishing, brute-force, ransomware-like behavior, network, exfiltration and anomaly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9106637"/>
                  </a:ext>
                </a:extLst>
              </a:tr>
              <a:tr h="505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3. Event Correlation &amp; Incident Creation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Correlation of related security events and automatic incident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257328"/>
                  </a:ext>
                </a:extLst>
              </a:tr>
              <a:tr h="505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4. Multi-Agent SOC Workflow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Triage, Correlation, Investigation, Risk Assessment and Response agents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0352554"/>
                  </a:ext>
                </a:extLst>
              </a:tr>
              <a:tr h="505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5. Digital Twin Response Planning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Candidate response-plan simulation, residual-risk estimation and operational-impact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2212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0CF27-F222-6CB9-7F35-7E8A781F0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ED0278-4E33-0BD7-9B57-0EAFE9EB260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plan/Milestone Progress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3B2BF7-3039-6C31-2EF3-7FE42568240B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EDF9E3E-38FE-01AD-40DB-2623F9BAED8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0E9FF0C-F18D-6DE4-88A7-E645BBA77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178686"/>
              </p:ext>
            </p:extLst>
          </p:nvPr>
        </p:nvGraphicFramePr>
        <p:xfrm>
          <a:off x="416146" y="1234635"/>
          <a:ext cx="11650935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83645">
                  <a:extLst>
                    <a:ext uri="{9D8B030D-6E8A-4147-A177-3AD203B41FA5}">
                      <a16:colId xmlns:a16="http://schemas.microsoft.com/office/drawing/2014/main" val="1626725249"/>
                    </a:ext>
                  </a:extLst>
                </a:gridCol>
                <a:gridCol w="3883645">
                  <a:extLst>
                    <a:ext uri="{9D8B030D-6E8A-4147-A177-3AD203B41FA5}">
                      <a16:colId xmlns:a16="http://schemas.microsoft.com/office/drawing/2014/main" val="2697246095"/>
                    </a:ext>
                  </a:extLst>
                </a:gridCol>
                <a:gridCol w="3883645">
                  <a:extLst>
                    <a:ext uri="{9D8B030D-6E8A-4147-A177-3AD203B41FA5}">
                      <a16:colId xmlns:a16="http://schemas.microsoft.com/office/drawing/2014/main" val="2577385552"/>
                    </a:ext>
                  </a:extLst>
                </a:gridCol>
              </a:tblGrid>
              <a:tr h="886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6. SOC Persistence &amp; Backend APIs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Persistent incidents, evidence, tickets, response actions, timelines and FastAPI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4131679"/>
                  </a:ext>
                </a:extLst>
              </a:tr>
              <a:tr h="886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7. Mitigation Verification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Before/after simulated security-state comparison and mitigation-effectiveness verification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7915445"/>
                  </a:ext>
                </a:extLst>
              </a:tr>
              <a:tr h="886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8. SOC Dashboard Development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React dashboard for incidents, agents, Digital Twin, tickets, evidence and response 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🟡 In Progress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7299172"/>
                  </a:ext>
                </a:extLst>
              </a:tr>
              <a:tr h="886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9. End-to-End System Integration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Detection → Correlation → Incident → Agents → Digital Twin → Approval → Simulated Response → Verification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🟡 In Progress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3270122"/>
                  </a:ext>
                </a:extLst>
              </a:tr>
              <a:tr h="886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10. Extended ML Models &amp; Evaluation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Additional ML-based cybersecurity detection models and final performance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🔴 Planned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7209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752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D4954A-D73A-8908-5ABA-0ADBD22C6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37"/>
          <a:stretch>
            <a:fillRect/>
          </a:stretch>
        </p:blipFill>
        <p:spPr>
          <a:xfrm>
            <a:off x="809469" y="1234637"/>
            <a:ext cx="10979598" cy="523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1606</Words>
  <Application>Microsoft Office PowerPoint</Application>
  <PresentationFormat>Widescreen</PresentationFormat>
  <Paragraphs>135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GohilRadha Maheshbhai</cp:lastModifiedBy>
  <cp:revision>16</cp:revision>
  <dcterms:created xsi:type="dcterms:W3CDTF">2024-05-13T10:33:11Z</dcterms:created>
  <dcterms:modified xsi:type="dcterms:W3CDTF">2026-09-25T02:06:33Z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