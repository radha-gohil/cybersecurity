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147470489" r:id="rId2"/>
    <p:sldId id="2147470492" r:id="rId3"/>
    <p:sldId id="2147470493" r:id="rId4"/>
    <p:sldId id="2147470494" r:id="rId5"/>
    <p:sldId id="2147470501" r:id="rId6"/>
    <p:sldId id="2147470496" r:id="rId7"/>
    <p:sldId id="2147470497" r:id="rId8"/>
    <p:sldId id="2147470502" r:id="rId9"/>
    <p:sldId id="2147470491" r:id="rId10"/>
    <p:sldId id="2147470487" r:id="rId11"/>
    <p:sldId id="2147470503" r:id="rId12"/>
    <p:sldId id="2147470504" r:id="rId13"/>
    <p:sldId id="21474704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1E23-5FE6-4169-971A-5D36755E2E8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A916-A9E7-4CB9-A5D5-5E53B3815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5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A916-A9E7-4CB9-A5D5-5E53B38158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9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A916-A9E7-4CB9-A5D5-5E53B38158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RADHA GOHIL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0EF618-030D-7D99-264D-381F92264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" y="5922590"/>
            <a:ext cx="2116015" cy="70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187" y="1040860"/>
            <a:ext cx="11935839" cy="3336587"/>
          </a:xfrm>
        </p:spPr>
        <p:txBody>
          <a:bodyPr/>
          <a:lstStyle/>
          <a:p>
            <a:pPr marL="0" indent="0" algn="just"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Existing Challenges: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Windows endpoints face malware, ransomware, suspicious processes, malicious network activity, and persistence attacks.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Current Limitations: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Isolated security alerts make threat correlation, attack understanding, and fast response difficult.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Proposed Solution: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SENTINEL-X integrates endpoint monitoring, multi-engine threat detection, event correlation, AI-based investigation, and controlled response.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Intelligent Decision Support: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AI agents support triage, investigation, risk assessment, and response recommendations using correlated threat data.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Overall Benefit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: The platform improves threat detection, attack visibility, response speed, and explainable endpoint protection.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82065" y="57036"/>
            <a:ext cx="82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Monitor file, process, network, and registry activity in real time. </a:t>
            </a:r>
          </a:p>
          <a:p>
            <a:pPr lvl="0" algn="just"/>
            <a:r>
              <a:rPr lang="en-IN" sz="2400" b="0" dirty="0">
                <a:latin typeface="+mn-lt"/>
              </a:rPr>
              <a:t>Detect malware, ransomware, suspicious behaviour, and network threats. </a:t>
            </a:r>
          </a:p>
          <a:p>
            <a:pPr lvl="0" algn="just"/>
            <a:r>
              <a:rPr lang="en-IN" sz="2400" b="0" dirty="0">
                <a:latin typeface="+mn-lt"/>
              </a:rPr>
              <a:t>Use ML, anomaly detection, and behavioural analysis for threat detection. </a:t>
            </a:r>
          </a:p>
          <a:p>
            <a:pPr lvl="0" algn="just"/>
            <a:r>
              <a:rPr lang="en-IN" sz="2400" b="0" dirty="0">
                <a:latin typeface="+mn-lt"/>
              </a:rPr>
              <a:t>Correlate events and generate a unified threat score. </a:t>
            </a:r>
          </a:p>
          <a:p>
            <a:pPr lvl="0" algn="just"/>
            <a:r>
              <a:rPr lang="en-IN" sz="2400" b="0" dirty="0">
                <a:latin typeface="+mn-lt"/>
              </a:rPr>
              <a:t>Use AI agents for investigation, risk assessment, and response recommendations. </a:t>
            </a:r>
          </a:p>
          <a:p>
            <a:pPr lvl="0" algn="just"/>
            <a:r>
              <a:rPr lang="en-IN" sz="2400" b="0" dirty="0">
                <a:latin typeface="+mn-lt"/>
              </a:rPr>
              <a:t>Provide explainable and controlled threat response. </a:t>
            </a:r>
          </a:p>
          <a:p>
            <a:pPr lvl="0" algn="just"/>
            <a:r>
              <a:rPr lang="en-IN" sz="2400" b="0" dirty="0">
                <a:latin typeface="+mn-lt"/>
              </a:rPr>
              <a:t>Build an installable Windows endpoint security application.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100053" y="57036"/>
            <a:ext cx="809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Real-time monitoring of files, processes, network connections, and registry activity on Windows. </a:t>
            </a:r>
          </a:p>
          <a:p>
            <a:pPr lvl="0" algn="just"/>
            <a:r>
              <a:rPr lang="en-IN" sz="2400" b="0" dirty="0">
                <a:latin typeface="+mn-lt"/>
              </a:rPr>
              <a:t>Detection of malware, ransomware, suspicious behaviour, and network attacks. </a:t>
            </a:r>
          </a:p>
          <a:p>
            <a:pPr lvl="0" algn="just"/>
            <a:r>
              <a:rPr lang="en-IN" sz="2400" b="0" dirty="0">
                <a:latin typeface="+mn-lt"/>
              </a:rPr>
              <a:t>PE[</a:t>
            </a:r>
            <a:r>
              <a:rPr lang="en-IN" sz="2400" b="0" dirty="0"/>
              <a:t>Portable Executable</a:t>
            </a:r>
            <a:r>
              <a:rPr lang="en-IN" sz="2400" b="0" dirty="0">
                <a:latin typeface="+mn-lt"/>
              </a:rPr>
              <a:t>]-file analysis, behavioural analysis, and anomaly detection. </a:t>
            </a:r>
          </a:p>
          <a:p>
            <a:pPr lvl="0" algn="just"/>
            <a:r>
              <a:rPr lang="en-IN" sz="2400" b="0" dirty="0">
                <a:latin typeface="+mn-lt"/>
              </a:rPr>
              <a:t>Detection fusion and attack-event correlation for better threat assessment. </a:t>
            </a:r>
          </a:p>
          <a:p>
            <a:pPr lvl="0" algn="just"/>
            <a:r>
              <a:rPr lang="en-IN" sz="2400" b="0" dirty="0">
                <a:latin typeface="+mn-lt"/>
              </a:rPr>
              <a:t>AI agents for triage, investigation, risk analysis, and response recommendations. </a:t>
            </a:r>
          </a:p>
          <a:p>
            <a:pPr lvl="0" algn="just"/>
            <a:r>
              <a:rPr lang="en-IN" sz="2400" b="0" dirty="0">
                <a:latin typeface="+mn-lt"/>
              </a:rPr>
              <a:t>Controlled security actions such as quarantine, process termination, persistence removal, and network blocking. </a:t>
            </a:r>
          </a:p>
          <a:p>
            <a:pPr lvl="0" algn="just"/>
            <a:r>
              <a:rPr lang="en-US" sz="2400" b="0" dirty="0">
                <a:latin typeface="+mn-lt"/>
              </a:rPr>
              <a:t>Development of an installable Windows endpoint security application with real-time monitoring and intelligent response.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149213" y="57036"/>
            <a:ext cx="804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0DD9-3554-C092-10DE-960A035C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248208-67DD-A48B-A73D-C47D82A5DB0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203271-7CA4-B494-798C-BBE37342061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978A36-0811-FEB8-D9AE-6B138F415B32}"/>
              </a:ext>
            </a:extLst>
          </p:cNvPr>
          <p:cNvSpPr txBox="1"/>
          <p:nvPr/>
        </p:nvSpPr>
        <p:spPr>
          <a:xfrm>
            <a:off x="4060723" y="57036"/>
            <a:ext cx="8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52BC95-EF08-65C5-6765-7981ABC66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62432"/>
              </p:ext>
            </p:extLst>
          </p:nvPr>
        </p:nvGraphicFramePr>
        <p:xfrm>
          <a:off x="509666" y="1234637"/>
          <a:ext cx="11077732" cy="5065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9433">
                  <a:extLst>
                    <a:ext uri="{9D8B030D-6E8A-4147-A177-3AD203B41FA5}">
                      <a16:colId xmlns:a16="http://schemas.microsoft.com/office/drawing/2014/main" val="3809988457"/>
                    </a:ext>
                  </a:extLst>
                </a:gridCol>
                <a:gridCol w="2769433">
                  <a:extLst>
                    <a:ext uri="{9D8B030D-6E8A-4147-A177-3AD203B41FA5}">
                      <a16:colId xmlns:a16="http://schemas.microsoft.com/office/drawing/2014/main" val="2477524976"/>
                    </a:ext>
                  </a:extLst>
                </a:gridCol>
                <a:gridCol w="2769433">
                  <a:extLst>
                    <a:ext uri="{9D8B030D-6E8A-4147-A177-3AD203B41FA5}">
                      <a16:colId xmlns:a16="http://schemas.microsoft.com/office/drawing/2014/main" val="3568668912"/>
                    </a:ext>
                  </a:extLst>
                </a:gridCol>
                <a:gridCol w="2769433">
                  <a:extLst>
                    <a:ext uri="{9D8B030D-6E8A-4147-A177-3AD203B41FA5}">
                      <a16:colId xmlns:a16="http://schemas.microsoft.com/office/drawing/2014/main" val="904458276"/>
                    </a:ext>
                  </a:extLst>
                </a:gridCol>
              </a:tblGrid>
              <a:tr h="2987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Study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Approach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Key Contribution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Limitation / Research Gap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0692256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Anderson &amp; Roth  – 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 features +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malware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full endpoint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533313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Raff et al. – </a:t>
                      </a:r>
                      <a:r>
                        <a:rPr lang="en-IN" dirty="0" err="1"/>
                        <a:t>MalConv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 on raw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End-to-end malware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computation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288771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 et al.  – </a:t>
                      </a:r>
                      <a:r>
                        <a:rPr lang="en-IN" dirty="0" err="1"/>
                        <a:t>DeepLog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LSTM-based log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Detects abnormal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Mainly log-focused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347911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Milajerdi</a:t>
                      </a:r>
                      <a:r>
                        <a:rPr lang="en-IN" dirty="0"/>
                        <a:t> et al.  – HOLMES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 correlation + attack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Reconstructs attack chains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endpoint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765368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 et al.  – UNICORN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Provenance graph +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Detects stealthy attacks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and resource-heavy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840417"/>
                  </a:ext>
                </a:extLst>
              </a:tr>
              <a:tr h="63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van Ede et al. – </a:t>
                      </a:r>
                      <a:r>
                        <a:rPr lang="en-IN" dirty="0" err="1"/>
                        <a:t>DeepCASE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event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Improves alert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automated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593720"/>
                  </a:ext>
                </a:extLst>
              </a:tr>
              <a:tr h="86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SENTINEL-X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ML + behaviour + anomaly + AI agents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Integrated endpoint detection, investigation, and response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Bridges isolated security tools into one platform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54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/>
            <a:r>
              <a:rPr lang="en-IN" sz="2400" dirty="0">
                <a:latin typeface="+mn-lt"/>
              </a:rPr>
              <a:t>Existing studies </a:t>
            </a:r>
            <a:r>
              <a:rPr lang="en-IN" sz="2400" b="0" dirty="0">
                <a:latin typeface="+mn-lt"/>
              </a:rPr>
              <a:t>usually focus on individual areas such as static malware detection, behavioural anomaly detection, attack correlation, provenance analysis, or security-event prioritization. There is limited work combining these capabilities into a single integrated, explainable, AI-driven Windows endpoint security platform.</a:t>
            </a:r>
          </a:p>
          <a:p>
            <a:pPr algn="just"/>
            <a:endParaRPr lang="en-IN" sz="2400" b="0" dirty="0">
              <a:latin typeface="+mn-lt"/>
            </a:endParaRPr>
          </a:p>
          <a:p>
            <a:pPr marL="0" indent="0" algn="just">
              <a:buNone/>
            </a:pPr>
            <a:r>
              <a:rPr lang="en-IN" sz="2400" b="0" dirty="0">
                <a:latin typeface="+mn-lt"/>
              </a:rPr>
              <a:t>• </a:t>
            </a:r>
            <a:r>
              <a:rPr lang="en-IN" sz="2400" dirty="0">
                <a:latin typeface="+mn-lt"/>
              </a:rPr>
              <a:t>Proposed Solution</a:t>
            </a:r>
            <a:r>
              <a:rPr lang="en-IN" sz="2400" b="0" dirty="0">
                <a:latin typeface="+mn-lt"/>
              </a:rPr>
              <a:t>:</a:t>
            </a:r>
          </a:p>
          <a:p>
            <a:pPr algn="just"/>
            <a:r>
              <a:rPr lang="en-IN" sz="2400" b="0" dirty="0">
                <a:latin typeface="+mn-lt"/>
              </a:rPr>
              <a:t>Endpoint Monitoring → Malware Detection → Behavioural &amp; Anomaly Detection → Detection Fusion → Event Correlation → AI Investigation → Risk Assessment → Controlled Response → Explainable Decision Support.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011561" y="57036"/>
            <a:ext cx="818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11086" cy="4142989"/>
          </a:xfrm>
        </p:spPr>
        <p:txBody>
          <a:bodyPr/>
          <a:lstStyle/>
          <a:p>
            <a:pPr algn="just"/>
            <a:r>
              <a:rPr lang="en-IN" sz="2400" dirty="0">
                <a:latin typeface="+mn-lt"/>
              </a:rPr>
              <a:t>Endpoint Protection: </a:t>
            </a:r>
            <a:r>
              <a:rPr lang="en-IN" sz="2400" b="0" dirty="0">
                <a:latin typeface="+mn-lt"/>
              </a:rPr>
              <a:t>Monitors files, processes, network connections, registry changes, startup activity, and system events.</a:t>
            </a:r>
          </a:p>
          <a:p>
            <a:pPr algn="just"/>
            <a:r>
              <a:rPr lang="en-IN" sz="2400" dirty="0">
                <a:latin typeface="+mn-lt"/>
              </a:rPr>
              <a:t>Malware &amp; Ransomware Défense: </a:t>
            </a:r>
            <a:r>
              <a:rPr lang="en-IN" sz="2400" b="0" dirty="0">
                <a:latin typeface="+mn-lt"/>
              </a:rPr>
              <a:t>Uses PE analysis, ML-based malware detection, ransomware behaviour monitoring, and quarantine support.</a:t>
            </a:r>
          </a:p>
          <a:p>
            <a:pPr algn="just"/>
            <a:r>
              <a:rPr lang="en-IN" sz="2400" dirty="0">
                <a:latin typeface="+mn-lt"/>
              </a:rPr>
              <a:t>Behaviour &amp; Anomaly Detection: </a:t>
            </a:r>
            <a:r>
              <a:rPr lang="en-IN" sz="2400" b="0" dirty="0">
                <a:latin typeface="+mn-lt"/>
              </a:rPr>
              <a:t>Identifies suspicious process chains, unusual endpoint activity, and previously unseen threats.</a:t>
            </a:r>
          </a:p>
          <a:p>
            <a:pPr algn="just"/>
            <a:r>
              <a:rPr lang="en-IN" sz="2400" dirty="0">
                <a:latin typeface="+mn-lt"/>
              </a:rPr>
              <a:t>Network Security</a:t>
            </a:r>
            <a:r>
              <a:rPr lang="en-IN" sz="2400" b="0" dirty="0">
                <a:latin typeface="+mn-lt"/>
              </a:rPr>
              <a:t>: Detects suspicious connections and network attacks using live telemetry and ML-based network detection.</a:t>
            </a:r>
          </a:p>
          <a:p>
            <a:pPr algn="just"/>
            <a:r>
              <a:rPr lang="en-IN" sz="2400" dirty="0">
                <a:latin typeface="+mn-lt"/>
              </a:rPr>
              <a:t>Detection Fusion: </a:t>
            </a:r>
            <a:r>
              <a:rPr lang="en-IN" sz="2400" b="0" dirty="0">
                <a:latin typeface="+mn-lt"/>
              </a:rPr>
              <a:t>Combines outputs from malware, behaviour, anomaly, ransomware, and network engines into a unified threat score.</a:t>
            </a:r>
          </a:p>
          <a:p>
            <a:pPr algn="just"/>
            <a:r>
              <a:rPr lang="en-IN" sz="2400" dirty="0">
                <a:latin typeface="+mn-lt"/>
              </a:rPr>
              <a:t>Attack Investigation: </a:t>
            </a:r>
            <a:r>
              <a:rPr lang="en-IN" sz="2400" b="0" dirty="0">
                <a:latin typeface="+mn-lt"/>
              </a:rPr>
              <a:t>Correlates related endpoint events and builds an attack graph/timeline to understand the full attack sequence.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060723" y="57036"/>
            <a:ext cx="813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78CD-8600-017E-CBF5-ED3D975F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16DEC-719E-9101-AEDA-DDA85963D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11086" cy="4142989"/>
          </a:xfrm>
        </p:spPr>
        <p:txBody>
          <a:bodyPr/>
          <a:lstStyle/>
          <a:p>
            <a:pPr algn="just"/>
            <a:r>
              <a:rPr lang="en-IN" sz="2400" dirty="0">
                <a:latin typeface="+mn-lt"/>
              </a:rPr>
              <a:t>AI Agents: </a:t>
            </a:r>
            <a:r>
              <a:rPr lang="en-IN" sz="2400" b="0" dirty="0">
                <a:latin typeface="+mn-lt"/>
              </a:rPr>
              <a:t>Uses specialized agents for triage, correlation, investigation, risk assessment, and response recommendation.</a:t>
            </a:r>
          </a:p>
          <a:p>
            <a:pPr algn="just"/>
            <a:r>
              <a:rPr lang="en-IN" sz="2400" dirty="0">
                <a:latin typeface="+mn-lt"/>
              </a:rPr>
              <a:t>Explainable Security: </a:t>
            </a:r>
            <a:r>
              <a:rPr lang="en-IN" sz="2400" b="0" dirty="0">
                <a:latin typeface="+mn-lt"/>
              </a:rPr>
              <a:t>Shows why a threat was detected, what evidence was used, the risk level, and the recommended action.</a:t>
            </a:r>
          </a:p>
          <a:p>
            <a:pPr algn="just"/>
            <a:r>
              <a:rPr lang="en-IN" sz="2400" dirty="0">
                <a:latin typeface="+mn-lt"/>
              </a:rPr>
              <a:t>Adaptive Autonomy: </a:t>
            </a:r>
            <a:r>
              <a:rPr lang="en-IN" sz="2400" b="0" dirty="0">
                <a:latin typeface="+mn-lt"/>
              </a:rPr>
              <a:t>Supports different response levels from monitoring and recommendation to controlled automatic containment.</a:t>
            </a:r>
          </a:p>
          <a:p>
            <a:pPr algn="just"/>
            <a:r>
              <a:rPr lang="en-IN" sz="2400" dirty="0">
                <a:latin typeface="+mn-lt"/>
              </a:rPr>
              <a:t>Response Actions: </a:t>
            </a:r>
            <a:r>
              <a:rPr lang="en-IN" sz="2400" b="0" dirty="0">
                <a:latin typeface="+mn-lt"/>
              </a:rPr>
              <a:t>Supports quarantine, process termination, network blocking, persistence cleanup, rescanning, and incident handling.</a:t>
            </a:r>
          </a:p>
          <a:p>
            <a:pPr algn="just"/>
            <a:r>
              <a:rPr lang="en-IN" sz="2400" dirty="0">
                <a:latin typeface="+mn-lt"/>
              </a:rPr>
              <a:t>Future Enterprise Scope: </a:t>
            </a:r>
            <a:r>
              <a:rPr lang="en-IN" sz="2400" b="0" dirty="0">
                <a:latin typeface="+mn-lt"/>
              </a:rPr>
              <a:t>Can be extended to centralized multi-device management, security policies, remote response, reporting, and EDR/XDR-style capabilities.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CEF7C-1D51-1B34-0B11-7CB816F084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F800D3-AFCF-21A2-B77B-073C3D6C41F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DA2DE5-6A58-A07D-B571-62ED0DFDC15F}"/>
              </a:ext>
            </a:extLst>
          </p:cNvPr>
          <p:cNvSpPr txBox="1"/>
          <p:nvPr/>
        </p:nvSpPr>
        <p:spPr>
          <a:xfrm>
            <a:off x="4129549" y="57036"/>
            <a:ext cx="806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12220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+mn-lt"/>
              </a:rPr>
              <a:t>Module 1: Endpoint Telemetry Collection - </a:t>
            </a:r>
            <a:r>
              <a:rPr lang="en-IN" sz="2400" b="0" dirty="0">
                <a:latin typeface="+mn-lt"/>
              </a:rPr>
              <a:t>Real-Time System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Process start/stop and parent-child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File create, modify, rename and delete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Network connection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Registry and startup activity monitoring</a:t>
            </a:r>
          </a:p>
          <a:p>
            <a:pPr marL="0" indent="0">
              <a:buNone/>
            </a:pPr>
            <a:endParaRPr lang="en-IN" sz="2400" b="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Module 2: Malware &amp; Threat Detection- </a:t>
            </a:r>
            <a:r>
              <a:rPr lang="en-IN" sz="2400" b="0" dirty="0">
                <a:latin typeface="+mn-lt"/>
              </a:rPr>
              <a:t>Multi-Engine Security Detection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• Static PE malware analysis using hashes, entropy, sections, imports and exports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ML-based malware and network attack detection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Behavioural, anomaly and ransomware detection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Threat type, confidence, severity and risk prediction</a:t>
            </a:r>
          </a:p>
          <a:p>
            <a:pPr marL="0" indent="0">
              <a:buNone/>
            </a:pPr>
            <a:endParaRPr lang="en-IN" sz="240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070555" y="57036"/>
            <a:ext cx="812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3: Detection Fusion &amp; Correlation </a:t>
            </a:r>
            <a:r>
              <a:rPr lang="en-IN" sz="2400" b="0" dirty="0"/>
              <a:t>- Unified Threat Analysis</a:t>
            </a:r>
            <a:br>
              <a:rPr lang="en-IN" sz="2400" b="0" dirty="0"/>
            </a:br>
            <a:r>
              <a:rPr lang="en-IN" sz="2400" b="0" dirty="0"/>
              <a:t>• Combine outputs from multiple detection engines</a:t>
            </a:r>
            <a:br>
              <a:rPr lang="en-IN" sz="2400" b="0" dirty="0"/>
            </a:br>
            <a:r>
              <a:rPr lang="en-IN" sz="2400" b="0" dirty="0"/>
              <a:t>• Generate a unified threat score</a:t>
            </a:r>
            <a:br>
              <a:rPr lang="en-IN" sz="2400" b="0" dirty="0"/>
            </a:br>
            <a:r>
              <a:rPr lang="en-IN" sz="2400" b="0" dirty="0"/>
              <a:t>• Correlate file, process, network and registry events</a:t>
            </a:r>
            <a:br>
              <a:rPr lang="en-IN" sz="2400" b="0" dirty="0"/>
            </a:br>
            <a:r>
              <a:rPr lang="en-IN" sz="2400" b="0" dirty="0"/>
              <a:t>• Identify related suspicious activities and attack patterns</a:t>
            </a:r>
          </a:p>
          <a:p>
            <a:pPr marL="0" indent="0">
              <a:buNone/>
            </a:pPr>
            <a:endParaRPr lang="en-IN" sz="240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Module 4: Threat Investigation </a:t>
            </a:r>
            <a:r>
              <a:rPr lang="en-IN" sz="2400" b="0" dirty="0">
                <a:latin typeface="+mn-lt"/>
              </a:rPr>
              <a:t>-  Attack Intelligence &amp; Analysis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IOC and event-history analysis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MITRE ATT&amp;CK mapping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CVE and vulnerability context where applicable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Attack timeline and attack-graph generation</a:t>
            </a:r>
          </a:p>
          <a:p>
            <a:pPr marL="0" indent="0">
              <a:buNone/>
            </a:pPr>
            <a:endParaRPr lang="en-IN" sz="2400" dirty="0"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</a:t>
            </a:r>
          </a:p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109885" y="5703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5AE9-9DDF-65FC-15D3-AD6DAFF5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A7D598-B374-89F6-5142-2D42190C4E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5: AI Agent Intelligence </a:t>
            </a:r>
            <a:r>
              <a:rPr lang="en-IN" sz="2400" b="0" dirty="0"/>
              <a:t>-  Autonomous Security Analysis</a:t>
            </a:r>
            <a:br>
              <a:rPr lang="en-IN" sz="2400" b="0" dirty="0"/>
            </a:br>
            <a:r>
              <a:rPr lang="en-IN" sz="2400" b="0" dirty="0"/>
              <a:t>• Triage Agent for alert prioritization</a:t>
            </a:r>
            <a:br>
              <a:rPr lang="en-IN" sz="2400" b="0" dirty="0"/>
            </a:br>
            <a:r>
              <a:rPr lang="en-IN" sz="2400" b="0" dirty="0"/>
              <a:t>• Correlation Agent for linking related events</a:t>
            </a:r>
            <a:br>
              <a:rPr lang="en-IN" sz="2400" b="0" dirty="0"/>
            </a:br>
            <a:r>
              <a:rPr lang="en-IN" sz="2400" b="0" dirty="0"/>
              <a:t>• Investigation Agent for attack analysis</a:t>
            </a:r>
            <a:br>
              <a:rPr lang="en-IN" sz="2400" b="0" dirty="0"/>
            </a:br>
            <a:r>
              <a:rPr lang="en-IN" sz="2400" b="0" dirty="0"/>
              <a:t>• Risk Agent for severity and impact assessment</a:t>
            </a:r>
            <a:br>
              <a:rPr lang="en-IN" sz="2400" b="0" dirty="0"/>
            </a:br>
            <a:r>
              <a:rPr lang="en-IN" sz="2400" b="0" dirty="0"/>
              <a:t>• Response Agent for remediation recommendations</a:t>
            </a:r>
          </a:p>
          <a:p>
            <a:pPr marL="0" indent="0">
              <a:buNone/>
            </a:pPr>
            <a:endParaRPr lang="en-IN" sz="2400" b="0" dirty="0"/>
          </a:p>
          <a:p>
            <a:pPr marL="0" indent="0">
              <a:buNone/>
            </a:pPr>
            <a:r>
              <a:rPr lang="en-IN" sz="2400" dirty="0"/>
              <a:t>Module 6: Response &amp; Remediation </a:t>
            </a:r>
            <a:r>
              <a:rPr lang="en-IN" sz="2400" b="0" dirty="0"/>
              <a:t>-  Controlled Threat Response</a:t>
            </a:r>
            <a:br>
              <a:rPr lang="en-IN" sz="2400" b="0" dirty="0"/>
            </a:br>
            <a:r>
              <a:rPr lang="en-IN" sz="2400" b="0" dirty="0"/>
              <a:t>• File quarantine and restoration</a:t>
            </a:r>
            <a:br>
              <a:rPr lang="en-IN" sz="2400" b="0" dirty="0"/>
            </a:br>
            <a:r>
              <a:rPr lang="en-IN" sz="2400" b="0" dirty="0"/>
              <a:t>• Suspicious process termination</a:t>
            </a:r>
            <a:br>
              <a:rPr lang="en-IN" sz="2400" b="0" dirty="0"/>
            </a:br>
            <a:r>
              <a:rPr lang="en-IN" sz="2400" b="0" dirty="0"/>
              <a:t>• Network/IP blocking</a:t>
            </a:r>
            <a:br>
              <a:rPr lang="en-IN" sz="2400" b="0" dirty="0"/>
            </a:br>
            <a:r>
              <a:rPr lang="en-IN" sz="2400" b="0" dirty="0"/>
              <a:t>• Persistence cleanup and rescan actions</a:t>
            </a:r>
            <a:br>
              <a:rPr lang="en-IN" sz="2400" b="0" dirty="0"/>
            </a:br>
            <a:r>
              <a:rPr lang="en-IN" sz="2400" b="0" dirty="0"/>
              <a:t>• Policy/user-controlled approval before sensitive actions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BDD1D-1D8E-BDB2-8DA4-F79EFC3DD492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</a:t>
            </a:r>
          </a:p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061ADF-D7C8-5BD0-B452-C9492EADC8E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C678CA-0E79-00C8-EC34-9FEE6882FAA5}"/>
              </a:ext>
            </a:extLst>
          </p:cNvPr>
          <p:cNvSpPr txBox="1"/>
          <p:nvPr/>
        </p:nvSpPr>
        <p:spPr>
          <a:xfrm>
            <a:off x="4119717" y="57036"/>
            <a:ext cx="807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Incident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19098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385285-42C8-CF03-767C-8DA63897C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32" b="20421"/>
          <a:stretch>
            <a:fillRect/>
          </a:stretch>
        </p:blipFill>
        <p:spPr>
          <a:xfrm>
            <a:off x="430590" y="798286"/>
            <a:ext cx="11637095" cy="47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1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D27D7E-7250-C4AB-CE0A-0A412B05F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7"/>
          <a:stretch>
            <a:fillRect/>
          </a:stretch>
        </p:blipFill>
        <p:spPr>
          <a:xfrm>
            <a:off x="159895" y="435428"/>
            <a:ext cx="11872210" cy="5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95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1128</Words>
  <Application>Microsoft Office PowerPoint</Application>
  <PresentationFormat>Widescreen</PresentationFormat>
  <Paragraphs>118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26</cp:revision>
  <dcterms:created xsi:type="dcterms:W3CDTF">2024-05-13T10:33:11Z</dcterms:created>
  <dcterms:modified xsi:type="dcterms:W3CDTF">2026-09-24T10:35:36Z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