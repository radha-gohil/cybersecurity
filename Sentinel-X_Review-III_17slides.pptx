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2147470489" r:id="rId2"/>
    <p:sldId id="2147470492" r:id="rId3"/>
    <p:sldId id="2147470487" r:id="rId4"/>
    <p:sldId id="2147470493" r:id="rId5"/>
    <p:sldId id="2147470494" r:id="rId6"/>
    <p:sldId id="2147470505" r:id="rId7"/>
    <p:sldId id="2147470504" r:id="rId8"/>
    <p:sldId id="2147470501" r:id="rId9"/>
    <p:sldId id="2147470497" r:id="rId10"/>
    <p:sldId id="2147470506" r:id="rId11"/>
    <p:sldId id="2147470507" r:id="rId12"/>
    <p:sldId id="2147470509" r:id="rId13"/>
    <p:sldId id="2147470510" r:id="rId14"/>
    <p:sldId id="2147470517" r:id="rId15"/>
    <p:sldId id="2147470512" r:id="rId16"/>
    <p:sldId id="2147470513" r:id="rId17"/>
    <p:sldId id="214747051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5B9ED"/>
    <a:srgbClr val="47BDAE"/>
    <a:srgbClr val="30BBDA"/>
    <a:srgbClr val="47BDAF"/>
    <a:srgbClr val="696969"/>
    <a:srgbClr val="1C4D98"/>
    <a:srgbClr val="8BC431"/>
    <a:srgbClr val="97B6BA"/>
    <a:srgbClr val="24A8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7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997658-2D2B-4FDA-87C2-C64676818BE7}" type="datetimeFigureOut">
              <a:rPr lang="en-US" smtClean="0"/>
              <a:t>09/10/2026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CEE1A2-A13D-46EC-912F-F172282CBD72}" type="slidenum">
              <a:rPr lang="en-US" smtClean="0"/>
              <a:t>‹#›</a:t>
            </a:fld>
            <a:endParaRPr lang="en-US"/>
          </a:p>
        </p:txBody>
      </p:sp>
    </p:spTree>
    <p:extLst>
      <p:ext uri="{BB962C8B-B14F-4D97-AF65-F5344CB8AC3E}">
        <p14:creationId xmlns:p14="http://schemas.microsoft.com/office/powerpoint/2010/main" val="2666437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novelty of Sentinel-X is not one individual classifier. It is the integration of different security and AI techniques into one evidence-driven endpoint-security pipeline.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intentionally combines trained AI models with deterministic rules and statistical security logic. Not every detector requires machine learning.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Normalizing different telemetry sources into one canonical format allows downstream detection and AI components to operate on consistent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process AI, I do not give raw process names directly to the anomaly models. I first convert the process into a 19-dimensional behavioral representation containing resource use, network activity, command characteristics, execution location and parent-child context. Isolation Forest learns the distribution of these behaviors and identifies observations that are easily isolated. In parallel, the Autoencoder learns to reconstruct the same 19 features. If reconstruction error is high, it indicates that the behavior differs from what the model learned. These are anomaly signals, not direct malware verdicts.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Detection answers whether one observation is suspicious. Correlation answers whether several observations belong to the same security story.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LLM is not the detector. Detection and correlation happen first, and the AI receives already-grounded evidence. This is the actual result from the user-facing AI pipeline: the detector produced critical evidence for PowerShell launched from Word, but Isolation Forest and Autoencoder evidence was less conclusive, so AI assessed High Risk / Suspicious while the final policy stayed Monitor.</a:t>
            </a:r>
          </a:p>
          <a:p>
            <a:endParaRPr/>
          </a:p>
          <a:p>
            <a:r>
              <a:t>[TODO: replace the rebuilt right-hand card with a cropped screenshot of the real AI Security Analysis card.]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Digital Twin is conditional. Sentinel-X does not simulate containment for every alert. If the recommendation is only Monitor or Investigate, no disruptive action exists and Digital Twin is not required. If the recommendation involves termination, blocking, quarantine or isolation, candidate plans are simulated and compared using security benefit and operational impact.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frontend is not simply a visualization layer. It exposes the evidence, AI decision, uncertainty and response status so the user understands why Sentinel-X made a recommendation.</a:t>
            </a:r>
          </a:p>
          <a:p>
            <a:endParaRPr/>
          </a:p>
          <a:p>
            <a:r>
              <a:t>[TODO: add 3-4 screenshots (Live Monitor, Threat Detail, AI Security, Response Simulator) if you want this slide to be more visual.]</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9FE80F-2BBC-4DB4-BB22-F64CBA6DBE55}" type="slidenum">
              <a:rPr lang="en-IN" smtClean="0"/>
              <a:t>14</a:t>
            </a:fld>
            <a:endParaRPr lang="en-IN"/>
          </a:p>
        </p:txBody>
      </p:sp>
    </p:spTree>
    <p:extLst>
      <p:ext uri="{BB962C8B-B14F-4D97-AF65-F5344CB8AC3E}">
        <p14:creationId xmlns:p14="http://schemas.microsoft.com/office/powerpoint/2010/main" val="237283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3F4D17B-9B25-2D63-E389-71163BD2C8E7}"/>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FC4ED1-FB42-4A6C-B292-B8C58946A85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535A630-145D-4232-9865-98341E30F7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7083635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837F2-3C53-43E6-9F25-242D13C5ABD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D302C3C5-9B28-493B-9422-74FF4AE1808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04361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9B68FAD-9CFA-CBF0-4B37-9944C2E932A1}"/>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B6E2-CC70-4366-ABC8-87480CC35BD1}"/>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0D34EE-ED80-45A7-B964-53ED80D946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3433036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3BCD6-D227-4C30-8364-6F161FA122F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5DC3054-5604-4679-AF7D-07BF06BE01A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247BA85-32D5-4EA3-9F8B-5A8B9251743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961234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F33A1-3BE5-4F1B-8E70-082254902238}"/>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E4C4CAE0-72F2-4F22-A85A-772E3DA044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EDE67E9-F76F-4049-98D4-82E9E7C800E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B332A94-E906-4159-9FE4-E63CFAE0BE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C16D1AA-A642-4FEB-91F0-3F506A2AE8F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9363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BF108-6EC2-4592-9D33-716E6B1ACF9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8267365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73876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AB71-FC15-4C88-A99B-0D66CDCEEF56}"/>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369B3E-A4BB-45D7-ABB7-1E151F04FE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FD4C72-B215-468A-8722-23007428B0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16943301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42731-906B-40B4-86D3-CD7878598D2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1042F1-26FD-477E-A079-62384AA43E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C52E8FE-8F89-4D08-8341-786A0381BB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7385411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B0375-D926-48D9-8605-813B1B64E6F6}"/>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B8D7657-21CC-45AA-A2CE-92653962FC4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93649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A09EBA-4206-40BF-81B1-742CF8BD5BA1}"/>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B8BE7B-6EB1-4B41-A25B-B41833E5B2B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138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255996" y="1271219"/>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
        <p:nvSpPr>
          <p:cNvPr id="4" name="Text Placeholder 13">
            <a:extLst>
              <a:ext uri="{FF2B5EF4-FFF2-40B4-BE49-F238E27FC236}">
                <a16:creationId xmlns:a16="http://schemas.microsoft.com/office/drawing/2014/main" id="{06C9D6B8-9A00-34FD-3E41-E67F07F278E4}"/>
              </a:ext>
            </a:extLst>
          </p:cNvPr>
          <p:cNvSpPr>
            <a:spLocks noGrp="1"/>
          </p:cNvSpPr>
          <p:nvPr>
            <p:ph type="body" sz="quarter" idx="15" hasCustomPrompt="1"/>
          </p:nvPr>
        </p:nvSpPr>
        <p:spPr>
          <a:xfrm>
            <a:off x="255996" y="629525"/>
            <a:ext cx="10624338" cy="444565"/>
          </a:xfrm>
        </p:spPr>
        <p:txBody>
          <a:bodyPr vert="horz" lIns="91440" tIns="45720" rIns="91440" bIns="45720" rtlCol="0">
            <a:noAutofit/>
          </a:bodyPr>
          <a:lstStyle>
            <a:lvl1pPr>
              <a:defRPr lang="en-US" sz="2800" b="1" kern="1200" dirty="0">
                <a:solidFill>
                  <a:srgbClr val="0070C0"/>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36477356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3" name="Text Placeholder 13">
            <a:extLst>
              <a:ext uri="{FF2B5EF4-FFF2-40B4-BE49-F238E27FC236}">
                <a16:creationId xmlns:a16="http://schemas.microsoft.com/office/drawing/2014/main" id="{F7878D79-3823-9575-1C88-56C4110E1E35}"/>
              </a:ext>
            </a:extLst>
          </p:cNvPr>
          <p:cNvSpPr>
            <a:spLocks noGrp="1"/>
          </p:cNvSpPr>
          <p:nvPr>
            <p:ph type="body" sz="quarter" idx="13" hasCustomPrompt="1"/>
          </p:nvPr>
        </p:nvSpPr>
        <p:spPr>
          <a:xfrm>
            <a:off x="173803" y="469835"/>
            <a:ext cx="11672300" cy="650048"/>
          </a:xfrm>
        </p:spPr>
        <p:txBody>
          <a:bodyPr vert="horz" lIns="91440" tIns="45720" rIns="91440" bIns="45720" rtlCol="0">
            <a:noAutofit/>
          </a:bodyPr>
          <a:lstStyle>
            <a:lvl1pPr>
              <a:defRPr lang="en-US" sz="3200" b="1" kern="1200" dirty="0">
                <a:solidFill>
                  <a:srgbClr val="595959"/>
                </a:solidFill>
                <a:latin typeface="Frutiger 45 bold"/>
                <a:ea typeface="+mn-ea"/>
                <a:cs typeface="Calibri" panose="020F0502020204030204" pitchFamily="34" charset="0"/>
              </a:defRPr>
            </a:lvl1pPr>
          </a:lstStyle>
          <a:p>
            <a:pPr marL="0" lvl="0" indent="0" algn="l" defTabSz="914400" rtl="0" eaLnBrk="1" latinLnBrk="0" hangingPunct="1">
              <a:lnSpc>
                <a:spcPct val="90000"/>
              </a:lnSpc>
              <a:spcBef>
                <a:spcPts val="1000"/>
              </a:spcBef>
              <a:buFontTx/>
              <a:buNone/>
            </a:pPr>
            <a:r>
              <a:rPr lang="en-US" dirty="0"/>
              <a:t>Title Here</a:t>
            </a:r>
          </a:p>
        </p:txBody>
      </p:sp>
    </p:spTree>
    <p:extLst>
      <p:ext uri="{BB962C8B-B14F-4D97-AF65-F5344CB8AC3E}">
        <p14:creationId xmlns:p14="http://schemas.microsoft.com/office/powerpoint/2010/main" val="24435425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19" Type="http://schemas.microsoft.com/office/2007/relationships/hdphoto" Target="../media/hdphoto2.wdp"/><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2D087FE-85BE-5152-9EB5-3B57AE38DD4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 y="5337544"/>
            <a:ext cx="12191994" cy="1548307"/>
          </a:xfrm>
          <a:prstGeom prst="rect">
            <a:avLst/>
          </a:prstGeom>
        </p:spPr>
      </p:pic>
      <p:sp>
        <p:nvSpPr>
          <p:cNvPr id="7" name="Rectangle 6">
            <a:extLst>
              <a:ext uri="{FF2B5EF4-FFF2-40B4-BE49-F238E27FC236}">
                <a16:creationId xmlns:a16="http://schemas.microsoft.com/office/drawing/2014/main" id="{8EFA70D2-ADBF-0DD4-D7D1-F37201867E99}"/>
              </a:ext>
            </a:extLst>
          </p:cNvPr>
          <p:cNvSpPr/>
          <p:nvPr userDrawn="1"/>
        </p:nvSpPr>
        <p:spPr>
          <a:xfrm>
            <a:off x="0" y="0"/>
            <a:ext cx="12192000" cy="365125"/>
          </a:xfrm>
          <a:prstGeom prst="rect">
            <a:avLst/>
          </a:prstGeom>
          <a:gradFill>
            <a:gsLst>
              <a:gs pos="5000">
                <a:srgbClr val="47BDAE"/>
              </a:gs>
              <a:gs pos="59000">
                <a:srgbClr val="25B9ED"/>
              </a:gs>
              <a:gs pos="100000">
                <a:srgbClr val="FFFF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endParaRPr lang="en-US" sz="2000" b="1" i="1" dirty="0">
              <a:solidFill>
                <a:schemeClr val="bg1">
                  <a:lumMod val="75000"/>
                </a:schemeClr>
              </a:solidFill>
            </a:endParaRPr>
          </a:p>
        </p:txBody>
      </p:sp>
      <p:sp>
        <p:nvSpPr>
          <p:cNvPr id="3" name="Text Placeholder 2">
            <a:extLst>
              <a:ext uri="{FF2B5EF4-FFF2-40B4-BE49-F238E27FC236}">
                <a16:creationId xmlns:a16="http://schemas.microsoft.com/office/drawing/2014/main" id="{F8BC08DB-FBED-4A43-AE4B-B2CE371FE61E}"/>
              </a:ext>
            </a:extLst>
          </p:cNvPr>
          <p:cNvSpPr>
            <a:spLocks noGrp="1"/>
          </p:cNvSpPr>
          <p:nvPr>
            <p:ph type="body" idx="1"/>
          </p:nvPr>
        </p:nvSpPr>
        <p:spPr>
          <a:xfrm>
            <a:off x="677271" y="1191757"/>
            <a:ext cx="11004446" cy="479500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28" name="Picture 4" descr="LTIMindtree logo in transparent PNG and vectorized SVG formats">
            <a:extLst>
              <a:ext uri="{FF2B5EF4-FFF2-40B4-BE49-F238E27FC236}">
                <a16:creationId xmlns:a16="http://schemas.microsoft.com/office/drawing/2014/main" id="{21F70453-17DB-04F6-290A-DCDEF9FDE02E}"/>
              </a:ext>
            </a:extLst>
          </p:cNvPr>
          <p:cNvPicPr>
            <a:picLocks noChangeAspect="1" noChangeArrowheads="1"/>
          </p:cNvPicPr>
          <p:nvPr userDrawn="1"/>
        </p:nvPicPr>
        <p:blipFill>
          <a:blip r:embed="rId16">
            <a:extLst>
              <a:ext uri="{BEBA8EAE-BF5A-486C-A8C5-ECC9F3942E4B}">
                <a14:imgProps xmlns:a14="http://schemas.microsoft.com/office/drawing/2010/main">
                  <a14:imgLayer r:embed="rId17">
                    <a14:imgEffect>
                      <a14:saturation sat="400000"/>
                    </a14:imgEffect>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45387" y="6562429"/>
            <a:ext cx="1541059" cy="295571"/>
          </a:xfrm>
          <a:prstGeom prst="rect">
            <a:avLst/>
          </a:prstGeom>
          <a:noFill/>
        </p:spPr>
      </p:pic>
      <p:sp>
        <p:nvSpPr>
          <p:cNvPr id="6" name="Title Placeholder 1">
            <a:extLst>
              <a:ext uri="{FF2B5EF4-FFF2-40B4-BE49-F238E27FC236}">
                <a16:creationId xmlns:a16="http://schemas.microsoft.com/office/drawing/2014/main" id="{DBDE3A73-7407-B3B5-0BC2-D13C973D143A}"/>
              </a:ext>
            </a:extLst>
          </p:cNvPr>
          <p:cNvSpPr txBox="1">
            <a:spLocks/>
          </p:cNvSpPr>
          <p:nvPr userDrawn="1"/>
        </p:nvSpPr>
        <p:spPr>
          <a:xfrm>
            <a:off x="221274" y="88514"/>
            <a:ext cx="8176583" cy="110324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dirty="0"/>
          </a:p>
        </p:txBody>
      </p:sp>
      <p:sp>
        <p:nvSpPr>
          <p:cNvPr id="11" name="Text Placeholder 2">
            <a:extLst>
              <a:ext uri="{FF2B5EF4-FFF2-40B4-BE49-F238E27FC236}">
                <a16:creationId xmlns:a16="http://schemas.microsoft.com/office/drawing/2014/main" id="{70A0B4C8-C250-76C3-01DB-D728F6B32656}"/>
              </a:ext>
            </a:extLst>
          </p:cNvPr>
          <p:cNvSpPr txBox="1">
            <a:spLocks/>
          </p:cNvSpPr>
          <p:nvPr userDrawn="1"/>
        </p:nvSpPr>
        <p:spPr>
          <a:xfrm>
            <a:off x="391411" y="640135"/>
            <a:ext cx="11290305" cy="523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latin typeface="Calibri (Body)"/>
            </a:endParaRPr>
          </a:p>
        </p:txBody>
      </p:sp>
      <p:sp>
        <p:nvSpPr>
          <p:cNvPr id="12" name="Text Placeholder 2">
            <a:extLst>
              <a:ext uri="{FF2B5EF4-FFF2-40B4-BE49-F238E27FC236}">
                <a16:creationId xmlns:a16="http://schemas.microsoft.com/office/drawing/2014/main" id="{349D7A90-F0A3-C216-D67E-9B86D1BECDF5}"/>
              </a:ext>
            </a:extLst>
          </p:cNvPr>
          <p:cNvSpPr txBox="1">
            <a:spLocks/>
          </p:cNvSpPr>
          <p:nvPr userDrawn="1"/>
        </p:nvSpPr>
        <p:spPr>
          <a:xfrm>
            <a:off x="158720" y="413891"/>
            <a:ext cx="10025576" cy="6859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pic>
        <p:nvPicPr>
          <p:cNvPr id="13" name="Picture 12">
            <a:extLst>
              <a:ext uri="{FF2B5EF4-FFF2-40B4-BE49-F238E27FC236}">
                <a16:creationId xmlns:a16="http://schemas.microsoft.com/office/drawing/2014/main" id="{383075D7-F006-A81F-68F1-A5F218FAF004}"/>
              </a:ext>
            </a:extLst>
          </p:cNvPr>
          <p:cNvPicPr>
            <a:picLocks noChangeAspect="1"/>
          </p:cNvPicPr>
          <p:nvPr userDrawn="1"/>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105554" y="6358271"/>
            <a:ext cx="964436" cy="411216"/>
          </a:xfrm>
          <a:prstGeom prst="rect">
            <a:avLst/>
          </a:prstGeom>
        </p:spPr>
      </p:pic>
    </p:spTree>
    <p:extLst>
      <p:ext uri="{BB962C8B-B14F-4D97-AF65-F5344CB8AC3E}">
        <p14:creationId xmlns:p14="http://schemas.microsoft.com/office/powerpoint/2010/main" val="26804827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8D30BC0-07A3-DCDA-0D0B-DD40C2178A62}"/>
              </a:ext>
            </a:extLst>
          </p:cNvPr>
          <p:cNvSpPr/>
          <p:nvPr/>
        </p:nvSpPr>
        <p:spPr>
          <a:xfrm>
            <a:off x="-31269" y="29737"/>
            <a:ext cx="12254538" cy="6868389"/>
          </a:xfrm>
          <a:prstGeom prst="rect">
            <a:avLst/>
          </a:prstGeom>
          <a:gradFill>
            <a:gsLst>
              <a:gs pos="0">
                <a:srgbClr val="47BDAF"/>
              </a:gs>
              <a:gs pos="100000">
                <a:srgbClr val="3793A6"/>
              </a:gs>
              <a:gs pos="39000">
                <a:srgbClr val="1C4D98"/>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Frutiger LT Pro 45 Light" panose="020B0403030504020204" pitchFamily="34" charset="0"/>
              <a:ea typeface="+mn-ea"/>
              <a:cs typeface="+mn-cs"/>
            </a:endParaRPr>
          </a:p>
        </p:txBody>
      </p:sp>
      <p:sp>
        <p:nvSpPr>
          <p:cNvPr id="14" name="Text Placeholder 1">
            <a:extLst>
              <a:ext uri="{FF2B5EF4-FFF2-40B4-BE49-F238E27FC236}">
                <a16:creationId xmlns:a16="http://schemas.microsoft.com/office/drawing/2014/main" id="{0741E81D-922F-23FE-07A9-320FA2B27E3A}"/>
              </a:ext>
            </a:extLst>
          </p:cNvPr>
          <p:cNvSpPr>
            <a:spLocks noGrp="1"/>
          </p:cNvSpPr>
          <p:nvPr>
            <p:ph type="body" sz="quarter" idx="13"/>
          </p:nvPr>
        </p:nvSpPr>
        <p:spPr>
          <a:xfrm>
            <a:off x="2289635" y="17705"/>
            <a:ext cx="6910121" cy="1058125"/>
          </a:xfrm>
        </p:spPr>
        <p:txBody>
          <a:bodyPr/>
          <a:lstStyle/>
          <a:p>
            <a:pPr marL="0" indent="0" algn="ctr">
              <a:buNone/>
            </a:pPr>
            <a:r>
              <a:rPr lang="en-US" sz="4400" dirty="0">
                <a:solidFill>
                  <a:schemeClr val="bg1"/>
                </a:solidFill>
              </a:rPr>
              <a:t>M.Tech/MCA Program </a:t>
            </a:r>
          </a:p>
          <a:p>
            <a:pPr marL="0" indent="0" algn="ctr">
              <a:buNone/>
            </a:pPr>
            <a:r>
              <a:rPr lang="en-US" sz="2000" dirty="0">
                <a:solidFill>
                  <a:schemeClr val="bg1"/>
                </a:solidFill>
              </a:rPr>
              <a:t>Advanced Industry Integrated Programs</a:t>
            </a:r>
          </a:p>
        </p:txBody>
      </p:sp>
      <p:cxnSp>
        <p:nvCxnSpPr>
          <p:cNvPr id="15" name="Straight Connector 14">
            <a:extLst>
              <a:ext uri="{FF2B5EF4-FFF2-40B4-BE49-F238E27FC236}">
                <a16:creationId xmlns:a16="http://schemas.microsoft.com/office/drawing/2014/main" id="{ED19DFA2-C55E-F4D5-C53A-B5ECEB442DC1}"/>
              </a:ext>
            </a:extLst>
          </p:cNvPr>
          <p:cNvCxnSpPr/>
          <p:nvPr/>
        </p:nvCxnSpPr>
        <p:spPr>
          <a:xfrm>
            <a:off x="2977350" y="1120307"/>
            <a:ext cx="586622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41AA452C-B3E6-7A79-FD46-04E813851A85}"/>
              </a:ext>
            </a:extLst>
          </p:cNvPr>
          <p:cNvSpPr/>
          <p:nvPr/>
        </p:nvSpPr>
        <p:spPr>
          <a:xfrm>
            <a:off x="4125951" y="1177578"/>
            <a:ext cx="3033131" cy="286036"/>
          </a:xfrm>
          <a:prstGeom prst="roundRect">
            <a:avLst/>
          </a:prstGeom>
          <a:solidFill>
            <a:schemeClr val="accent6">
              <a:lumMod val="20000"/>
              <a:lumOff val="80000"/>
            </a:schemeClr>
          </a:solidFill>
        </p:spPr>
        <p:txBody>
          <a:bodyPr wrap="square">
            <a:spAutoFit/>
          </a:bodyPr>
          <a:lstStyle/>
          <a:p>
            <a:pPr marL="0" marR="0" lvl="0" indent="0" algn="ctr" defTabSz="914400" rtl="0" eaLnBrk="1" fontAlgn="auto" latinLnBrk="0" hangingPunct="1">
              <a:lnSpc>
                <a:spcPct val="90000"/>
              </a:lnSpc>
              <a:spcBef>
                <a:spcPts val="1000"/>
              </a:spcBef>
              <a:spcAft>
                <a:spcPts val="0"/>
              </a:spcAft>
              <a:buClrTx/>
              <a:buSzTx/>
              <a:buFontTx/>
              <a:buNone/>
              <a:tabLst/>
              <a:defRPr/>
            </a:pPr>
            <a:r>
              <a:rPr kumimoji="0" lang="en-US" sz="1200" b="0" i="0" u="none" strike="noStrike" kern="1200" cap="none" spc="0" normalizeH="0" baseline="0" noProof="0" dirty="0">
                <a:ln>
                  <a:noFill/>
                </a:ln>
                <a:solidFill>
                  <a:srgbClr val="595959"/>
                </a:solidFill>
                <a:effectLst/>
                <a:uLnTx/>
                <a:uFillTx/>
                <a:latin typeface="Frutiger 45 bold"/>
                <a:ea typeface="+mn-ea"/>
                <a:cs typeface="Calibri" panose="020F0502020204030204" pitchFamily="34" charset="0"/>
              </a:rPr>
              <a:t>Jointly offered by University and LTIMindTree</a:t>
            </a:r>
          </a:p>
        </p:txBody>
      </p:sp>
      <p:sp>
        <p:nvSpPr>
          <p:cNvPr id="4" name="TextBox 3">
            <a:extLst>
              <a:ext uri="{FF2B5EF4-FFF2-40B4-BE49-F238E27FC236}">
                <a16:creationId xmlns:a16="http://schemas.microsoft.com/office/drawing/2014/main" id="{598A8852-79FE-2D69-0530-D7712358063B}"/>
              </a:ext>
            </a:extLst>
          </p:cNvPr>
          <p:cNvSpPr txBox="1"/>
          <p:nvPr/>
        </p:nvSpPr>
        <p:spPr>
          <a:xfrm>
            <a:off x="180236" y="1659822"/>
            <a:ext cx="11428184" cy="507831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3600" b="1" dirty="0">
                <a:solidFill>
                  <a:prstClr val="white"/>
                </a:solidFill>
                <a:cs typeface="Calibri" panose="020F0502020204030204" pitchFamily="34" charset="0"/>
              </a:rPr>
              <a:t>Review III</a:t>
            </a:r>
          </a:p>
          <a:p>
            <a:pPr lvl="0" algn="ctr">
              <a:defRPr/>
            </a:pPr>
            <a:endParaRPr lang="en-US" sz="3600" b="1" dirty="0">
              <a:solidFill>
                <a:prstClr val="white"/>
              </a:solidFill>
              <a:cs typeface="Calibri" panose="020F0502020204030204" pitchFamily="34" charset="0"/>
            </a:endParaRPr>
          </a:p>
          <a:p>
            <a:pPr lvl="0" algn="ctr">
              <a:defRPr/>
            </a:pPr>
            <a:r>
              <a:rPr lang="en-US" sz="3200" b="1" dirty="0">
                <a:solidFill>
                  <a:prstClr val="white"/>
                </a:solidFill>
                <a:cs typeface="Calibri" panose="020F0502020204030204" pitchFamily="34" charset="0"/>
              </a:rPr>
              <a:t>Sentinel-X: Autonomous Multi-Agent Cybersecurity</a:t>
            </a:r>
          </a:p>
          <a:p>
            <a:pPr lvl="0" algn="ctr">
              <a:defRPr/>
            </a:pPr>
            <a:r>
              <a:rPr lang="en-US" sz="3200" b="1" dirty="0">
                <a:solidFill>
                  <a:prstClr val="white"/>
                </a:solidFill>
                <a:cs typeface="Calibri" panose="020F0502020204030204" pitchFamily="34" charset="0"/>
              </a:rPr>
              <a:t>Defense &amp; Incident Intelligence Platform</a:t>
            </a: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a:p>
            <a:pPr lvl="0" algn="ctr">
              <a:defRPr/>
            </a:pPr>
            <a:endParaRPr lang="en-US" sz="2400" b="1" dirty="0">
              <a:solidFill>
                <a:prstClr val="white"/>
              </a:solidFill>
              <a:cs typeface="Calibri" panose="020F0502020204030204" pitchFamily="34" charset="0"/>
            </a:endParaRPr>
          </a:p>
          <a:p>
            <a:pPr lvl="0" algn="ctr">
              <a:defRPr/>
            </a:pPr>
            <a:r>
              <a:rPr lang="en-US" sz="2400" b="1" dirty="0">
                <a:solidFill>
                  <a:prstClr val="white"/>
                </a:solidFill>
                <a:cs typeface="Calibri" panose="020F0502020204030204" pitchFamily="34" charset="0"/>
              </a:rPr>
              <a:t>NAME: RADHA GOHIL</a:t>
            </a:r>
          </a:p>
          <a:p>
            <a:pPr lvl="0" algn="ctr">
              <a:defRPr/>
            </a:pPr>
            <a:r>
              <a:rPr lang="en-US" sz="2400" b="1" dirty="0">
                <a:solidFill>
                  <a:prstClr val="white"/>
                </a:solidFill>
                <a:cs typeface="Calibri" panose="020F0502020204030204" pitchFamily="34" charset="0"/>
              </a:rPr>
              <a:t>REGISTRATION NO.: T10002</a:t>
            </a:r>
          </a:p>
          <a:p>
            <a:pPr lvl="0" algn="ctr">
              <a:defRPr/>
            </a:pPr>
            <a:endParaRPr lang="en-US" sz="5400" b="1" dirty="0">
              <a:solidFill>
                <a:prstClr val="white"/>
              </a:solidFill>
              <a:latin typeface="Frutiger 45 bold"/>
              <a:cs typeface="Calibri" panose="020F0502020204030204" pitchFamily="34" charset="0"/>
            </a:endParaRPr>
          </a:p>
          <a:p>
            <a:pPr lvl="0" algn="ctr">
              <a:defRPr/>
            </a:pPr>
            <a:endParaRPr kumimoji="0" lang="en-US" sz="5400" b="1" i="0" u="none" strike="noStrike" kern="1200" cap="none" spc="0" normalizeH="0" baseline="0" noProof="0" dirty="0">
              <a:ln>
                <a:noFill/>
              </a:ln>
              <a:solidFill>
                <a:prstClr val="white"/>
              </a:solidFill>
              <a:effectLst/>
              <a:uLnTx/>
              <a:uFillTx/>
              <a:latin typeface="Frutiger 45 bold"/>
              <a:ea typeface="+mn-ea"/>
              <a:cs typeface="Calibri" panose="020F0502020204030204" pitchFamily="34" charset="0"/>
            </a:endParaRPr>
          </a:p>
        </p:txBody>
      </p:sp>
      <p:graphicFrame>
        <p:nvGraphicFramePr>
          <p:cNvPr id="3" name="Table 2">
            <a:extLst>
              <a:ext uri="{FF2B5EF4-FFF2-40B4-BE49-F238E27FC236}">
                <a16:creationId xmlns:a16="http://schemas.microsoft.com/office/drawing/2014/main" id="{0E7F5D19-19F4-F87F-17C2-8520612BCFEC}"/>
              </a:ext>
            </a:extLst>
          </p:cNvPr>
          <p:cNvGraphicFramePr>
            <a:graphicFrameLocks noGrp="1"/>
          </p:cNvGraphicFramePr>
          <p:nvPr/>
        </p:nvGraphicFramePr>
        <p:xfrm>
          <a:off x="-47290" y="5501244"/>
          <a:ext cx="12239216" cy="3264833"/>
        </p:xfrm>
        <a:graphic>
          <a:graphicData uri="http://schemas.openxmlformats.org/drawingml/2006/table">
            <a:tbl>
              <a:tblPr firstRow="1" bandRow="1">
                <a:tableStyleId>{5940675A-B579-460E-94D1-54222C63F5DA}</a:tableStyleId>
              </a:tblPr>
              <a:tblGrid>
                <a:gridCol w="6119608">
                  <a:extLst>
                    <a:ext uri="{9D8B030D-6E8A-4147-A177-3AD203B41FA5}">
                      <a16:colId xmlns:a16="http://schemas.microsoft.com/office/drawing/2014/main" val="586572480"/>
                    </a:ext>
                  </a:extLst>
                </a:gridCol>
                <a:gridCol w="6119608">
                  <a:extLst>
                    <a:ext uri="{9D8B030D-6E8A-4147-A177-3AD203B41FA5}">
                      <a16:colId xmlns:a16="http://schemas.microsoft.com/office/drawing/2014/main" val="157907922"/>
                    </a:ext>
                  </a:extLst>
                </a:gridCol>
              </a:tblGrid>
              <a:tr h="15274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Knowledge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latin typeface="Frutiger 45 bold"/>
                          <a:cs typeface="Calibri" panose="020F0502020204030204" pitchFamily="34" charset="0"/>
                        </a:rPr>
                        <a:t>                                                                     Implementation partner</a:t>
                      </a:r>
                      <a:endParaRPr lang="en-US" dirty="0">
                        <a:solidFill>
                          <a:schemeClr val="bg1"/>
                        </a:solidFill>
                      </a:endParaRPr>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133668230"/>
                  </a:ext>
                </a:extLst>
              </a:tr>
              <a:tr h="1184198">
                <a:tc>
                  <a:txBody>
                    <a:bodyPr/>
                    <a:lstStyle/>
                    <a:p>
                      <a:endParaRPr lang="en-US" dirty="0"/>
                    </a:p>
                    <a:p>
                      <a:endParaRPr lang="en-US" dirty="0"/>
                    </a:p>
                    <a:p>
                      <a:endParaRPr lang="en-US" dirty="0"/>
                    </a:p>
                    <a:p>
                      <a:endParaRPr lang="en-US" dirty="0"/>
                    </a:p>
                    <a:p>
                      <a:endParaRPr lang="en-US" dirty="0"/>
                    </a:p>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66263768"/>
                  </a:ext>
                </a:extLst>
              </a:tr>
            </a:tbl>
          </a:graphicData>
        </a:graphic>
      </p:graphicFrame>
      <p:pic>
        <p:nvPicPr>
          <p:cNvPr id="8" name="Picture 7">
            <a:extLst>
              <a:ext uri="{FF2B5EF4-FFF2-40B4-BE49-F238E27FC236}">
                <a16:creationId xmlns:a16="http://schemas.microsoft.com/office/drawing/2014/main" id="{2715C658-0B94-5B63-55F1-B9B6F645F0D0}"/>
              </a:ext>
            </a:extLst>
          </p:cNvPr>
          <p:cNvPicPr>
            <a:picLocks noChangeAspect="1"/>
          </p:cNvPicPr>
          <p:nvPr/>
        </p:nvPicPr>
        <p:blipFill>
          <a:blip r:embed="rId2"/>
          <a:stretch>
            <a:fillRect/>
          </a:stretch>
        </p:blipFill>
        <p:spPr>
          <a:xfrm>
            <a:off x="9775332" y="5852667"/>
            <a:ext cx="1987468" cy="847417"/>
          </a:xfrm>
          <a:prstGeom prst="rect">
            <a:avLst/>
          </a:prstGeom>
        </p:spPr>
      </p:pic>
      <p:pic>
        <p:nvPicPr>
          <p:cNvPr id="2" name="Picture 1">
            <a:extLst>
              <a:ext uri="{FF2B5EF4-FFF2-40B4-BE49-F238E27FC236}">
                <a16:creationId xmlns:a16="http://schemas.microsoft.com/office/drawing/2014/main" id="{ACCA5CD2-B055-9613-0BCC-4FF41EE92C03}"/>
              </a:ext>
            </a:extLst>
          </p:cNvPr>
          <p:cNvPicPr>
            <a:picLocks noChangeAspect="1"/>
          </p:cNvPicPr>
          <p:nvPr/>
        </p:nvPicPr>
        <p:blipFill>
          <a:blip r:embed="rId3"/>
          <a:stretch>
            <a:fillRect/>
          </a:stretch>
        </p:blipFill>
        <p:spPr>
          <a:xfrm>
            <a:off x="25856" y="5873783"/>
            <a:ext cx="2477501" cy="966511"/>
          </a:xfrm>
          <a:prstGeom prst="rect">
            <a:avLst/>
          </a:prstGeom>
        </p:spPr>
      </p:pic>
    </p:spTree>
    <p:extLst>
      <p:ext uri="{BB962C8B-B14F-4D97-AF65-F5344CB8AC3E}">
        <p14:creationId xmlns:p14="http://schemas.microsoft.com/office/powerpoint/2010/main" val="344950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Introduction</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                                                Sentinel-X: Autonomous Multi-Agent Cybersecurity Defense &amp; Incident Intelligence Platform</a:t>
            </a:r>
          </a:p>
        </p:txBody>
      </p:sp>
      <p:sp>
        <p:nvSpPr>
          <p:cNvPr id="6" name="Intro Text"/>
          <p:cNvSpPr/>
          <p:nvPr/>
        </p:nvSpPr>
        <p:spPr>
          <a:xfrm>
            <a:off x="411480" y="1371600"/>
            <a:ext cx="7589520" cy="489204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t"/>
          <a:lstStyle/>
          <a:p>
            <a:pPr algn="l">
              <a:spcAft>
                <a:spcPts val="800"/>
              </a:spcAft>
            </a:pPr>
            <a:r>
              <a:rPr sz="1700" b="1" dirty="0">
                <a:solidFill>
                  <a:srgbClr val="1F4E79"/>
                </a:solidFill>
              </a:rPr>
              <a:t>Sentinel-X is an AI-powered Windows endpoint-security prototype that integrates telemetry collection, multi-layer threat detection, evidence correlation, AI-assisted investigation and simulation-first response planning.</a:t>
            </a:r>
          </a:p>
          <a:p>
            <a:pPr algn="l">
              <a:spcAft>
                <a:spcPts val="400"/>
              </a:spcAft>
            </a:pPr>
            <a:r>
              <a:rPr sz="1550" b="0" dirty="0">
                <a:solidFill>
                  <a:srgbClr val="222222"/>
                </a:solidFill>
              </a:rPr>
              <a:t>• Collects process, file, network and registry activity from Windows endpoints.</a:t>
            </a:r>
          </a:p>
          <a:p>
            <a:pPr algn="l">
              <a:spcAft>
                <a:spcPts val="400"/>
              </a:spcAft>
            </a:pPr>
            <a:r>
              <a:rPr sz="1550" b="0" dirty="0">
                <a:solidFill>
                  <a:srgbClr val="222222"/>
                </a:solidFill>
              </a:rPr>
              <a:t>• Normalizes telemetry into a Security Event representation.</a:t>
            </a:r>
          </a:p>
          <a:p>
            <a:pPr algn="l">
              <a:spcAft>
                <a:spcPts val="400"/>
              </a:spcAft>
            </a:pPr>
            <a:r>
              <a:rPr sz="1550" b="0" dirty="0">
                <a:solidFill>
                  <a:srgbClr val="222222"/>
                </a:solidFill>
              </a:rPr>
              <a:t>• Combines rules, statistical analysis, ML and deep learning instead of depending on one classifier.</a:t>
            </a:r>
          </a:p>
          <a:p>
            <a:pPr algn="l">
              <a:spcAft>
                <a:spcPts val="400"/>
              </a:spcAft>
            </a:pPr>
            <a:r>
              <a:rPr sz="1550" b="0" dirty="0">
                <a:solidFill>
                  <a:srgbClr val="222222"/>
                </a:solidFill>
              </a:rPr>
              <a:t>• Correlates related evidence into meaningful threats / incidents.</a:t>
            </a:r>
          </a:p>
          <a:p>
            <a:pPr algn="l">
              <a:spcAft>
                <a:spcPts val="400"/>
              </a:spcAft>
            </a:pPr>
            <a:r>
              <a:rPr sz="1550" b="0" dirty="0">
                <a:solidFill>
                  <a:srgbClr val="222222"/>
                </a:solidFill>
              </a:rPr>
              <a:t>• Uses on-demand AI reasoning to assess risk, recommend responses and explain findings.</a:t>
            </a:r>
          </a:p>
          <a:p>
            <a:pPr algn="l">
              <a:spcAft>
                <a:spcPts val="400"/>
              </a:spcAft>
            </a:pPr>
            <a:r>
              <a:rPr sz="1550" b="0" dirty="0">
                <a:solidFill>
                  <a:srgbClr val="222222"/>
                </a:solidFill>
              </a:rPr>
              <a:t>• Uses a Digital Twin to evaluate potentially disruptive responses before recommending them.</a:t>
            </a:r>
          </a:p>
          <a:p>
            <a:pPr algn="l">
              <a:spcAft>
                <a:spcPts val="400"/>
              </a:spcAft>
            </a:pPr>
            <a:r>
              <a:rPr sz="1550" b="0" dirty="0">
                <a:solidFill>
                  <a:srgbClr val="222222"/>
                </a:solidFill>
              </a:rPr>
              <a:t>• The complete workflow is validated with controlled synthetic attack scenarios; real Windows telemetry is operational in Live Monitor.</a:t>
            </a:r>
          </a:p>
          <a:p>
            <a:pPr algn="l">
              <a:spcAft>
                <a:spcPts val="400"/>
              </a:spcAft>
            </a:pPr>
            <a:r>
              <a:rPr sz="1550" b="0" dirty="0">
                <a:solidFill>
                  <a:srgbClr val="222222"/>
                </a:solidFill>
              </a:rPr>
              <a:t>• All endpoint response remains simulation-only.</a:t>
            </a:r>
          </a:p>
        </p:txBody>
      </p:sp>
      <p:sp>
        <p:nvSpPr>
          <p:cNvPr id="7" name="Stat Tile"/>
          <p:cNvSpPr/>
          <p:nvPr/>
        </p:nvSpPr>
        <p:spPr>
          <a:xfrm>
            <a:off x="8229600" y="1371600"/>
            <a:ext cx="3547872" cy="1508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3250" b="1">
                <a:solidFill>
                  <a:srgbClr val="FFFFFF"/>
                </a:solidFill>
              </a:rPr>
              <a:t>4</a:t>
            </a:r>
          </a:p>
          <a:p>
            <a:pPr algn="ctr">
              <a:spcAft>
                <a:spcPts val="200"/>
              </a:spcAft>
            </a:pPr>
            <a:r>
              <a:rPr sz="1750" b="1">
                <a:solidFill>
                  <a:srgbClr val="FFFFFF"/>
                </a:solidFill>
              </a:rPr>
              <a:t>Endpoint Collectors</a:t>
            </a:r>
          </a:p>
          <a:p>
            <a:pPr algn="ctr">
              <a:spcAft>
                <a:spcPts val="0"/>
              </a:spcAft>
            </a:pPr>
            <a:r>
              <a:rPr sz="1450" b="0">
                <a:solidFill>
                  <a:srgbClr val="DCEBF7"/>
                </a:solidFill>
              </a:rPr>
              <a:t>Process | File | Network | Registry</a:t>
            </a:r>
          </a:p>
        </p:txBody>
      </p:sp>
      <p:sp>
        <p:nvSpPr>
          <p:cNvPr id="8" name="Stat Tile"/>
          <p:cNvSpPr/>
          <p:nvPr/>
        </p:nvSpPr>
        <p:spPr>
          <a:xfrm>
            <a:off x="8229600" y="3017520"/>
            <a:ext cx="3547872" cy="150876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2500" b="1">
                <a:solidFill>
                  <a:srgbClr val="FFFFFF"/>
                </a:solidFill>
              </a:rPr>
              <a:t>Multi-Layer</a:t>
            </a:r>
          </a:p>
          <a:p>
            <a:pPr algn="ctr">
              <a:spcAft>
                <a:spcPts val="200"/>
              </a:spcAft>
            </a:pPr>
            <a:r>
              <a:rPr sz="1750" b="1">
                <a:solidFill>
                  <a:srgbClr val="FFFFFF"/>
                </a:solidFill>
              </a:rPr>
              <a:t>AI / ML Detection</a:t>
            </a:r>
          </a:p>
          <a:p>
            <a:pPr algn="ctr">
              <a:spcAft>
                <a:spcPts val="0"/>
              </a:spcAft>
            </a:pPr>
            <a:r>
              <a:rPr sz="1450" b="0">
                <a:solidFill>
                  <a:srgbClr val="DCEBF7"/>
                </a:solidFill>
              </a:rPr>
              <a:t>Rules | Statistical | ML | DL</a:t>
            </a:r>
          </a:p>
        </p:txBody>
      </p:sp>
      <p:sp>
        <p:nvSpPr>
          <p:cNvPr id="9" name="Stat Tile"/>
          <p:cNvSpPr/>
          <p:nvPr/>
        </p:nvSpPr>
        <p:spPr>
          <a:xfrm>
            <a:off x="8229600" y="4663440"/>
            <a:ext cx="3547872" cy="15087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2500" b="1">
                <a:solidFill>
                  <a:srgbClr val="FFFFFF"/>
                </a:solidFill>
              </a:rPr>
              <a:t>Simulation-First</a:t>
            </a:r>
          </a:p>
          <a:p>
            <a:pPr algn="ctr">
              <a:spcAft>
                <a:spcPts val="200"/>
              </a:spcAft>
            </a:pPr>
            <a:r>
              <a:rPr sz="1750" b="1">
                <a:solidFill>
                  <a:srgbClr val="FFFFFF"/>
                </a:solidFill>
              </a:rPr>
              <a:t>Response</a:t>
            </a:r>
          </a:p>
          <a:p>
            <a:pPr algn="ctr">
              <a:spcAft>
                <a:spcPts val="0"/>
              </a:spcAft>
            </a:pPr>
            <a:r>
              <a:rPr sz="1450" b="0">
                <a:solidFill>
                  <a:srgbClr val="DCEBF7"/>
                </a:solidFill>
              </a:rPr>
              <a:t>No real endpoint 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Project Objectives</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Objective"/>
          <p:cNvSpPr/>
          <p:nvPr/>
        </p:nvSpPr>
        <p:spPr>
          <a:xfrm>
            <a:off x="411480" y="13716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01</a:t>
            </a:r>
          </a:p>
          <a:p>
            <a:pPr algn="l">
              <a:spcAft>
                <a:spcPts val="500"/>
              </a:spcAft>
            </a:pPr>
            <a:r>
              <a:rPr sz="2100" b="1">
                <a:solidFill>
                  <a:srgbClr val="1F4E79"/>
                </a:solidFill>
              </a:rPr>
              <a:t>Monitor Endpoint Activity</a:t>
            </a:r>
          </a:p>
          <a:p>
            <a:pPr algn="l">
              <a:spcAft>
                <a:spcPts val="300"/>
              </a:spcAft>
            </a:pPr>
            <a:r>
              <a:rPr sz="1700" b="0">
                <a:solidFill>
                  <a:srgbClr val="222222"/>
                </a:solidFill>
              </a:rPr>
              <a:t>Capture process, file, network and registry activity from a Windows endpoint.</a:t>
            </a:r>
          </a:p>
        </p:txBody>
      </p:sp>
      <p:sp>
        <p:nvSpPr>
          <p:cNvPr id="7" name="Objective"/>
          <p:cNvSpPr/>
          <p:nvPr/>
        </p:nvSpPr>
        <p:spPr>
          <a:xfrm>
            <a:off x="4251960" y="13716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02</a:t>
            </a:r>
          </a:p>
          <a:p>
            <a:pPr algn="l">
              <a:spcAft>
                <a:spcPts val="500"/>
              </a:spcAft>
            </a:pPr>
            <a:r>
              <a:rPr sz="2100" b="1">
                <a:solidFill>
                  <a:srgbClr val="1F4E79"/>
                </a:solidFill>
              </a:rPr>
              <a:t>Detect Suspicious Behavior</a:t>
            </a:r>
          </a:p>
          <a:p>
            <a:pPr algn="l">
              <a:spcAft>
                <a:spcPts val="300"/>
              </a:spcAft>
            </a:pPr>
            <a:r>
              <a:rPr sz="1700" b="0">
                <a:solidFill>
                  <a:srgbClr val="222222"/>
                </a:solidFill>
              </a:rPr>
              <a:t>Combine rules, statistical analysis, anomaly ML, temporal analysis and graph-based context.</a:t>
            </a:r>
          </a:p>
        </p:txBody>
      </p:sp>
      <p:sp>
        <p:nvSpPr>
          <p:cNvPr id="8" name="Objective"/>
          <p:cNvSpPr/>
          <p:nvPr/>
        </p:nvSpPr>
        <p:spPr>
          <a:xfrm>
            <a:off x="8092440" y="13716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03</a:t>
            </a:r>
          </a:p>
          <a:p>
            <a:pPr algn="l">
              <a:spcAft>
                <a:spcPts val="500"/>
              </a:spcAft>
            </a:pPr>
            <a:r>
              <a:rPr sz="2100" b="1">
                <a:solidFill>
                  <a:srgbClr val="1F4E79"/>
                </a:solidFill>
              </a:rPr>
              <a:t>Correlate Evidence</a:t>
            </a:r>
          </a:p>
          <a:p>
            <a:pPr algn="l">
              <a:spcAft>
                <a:spcPts val="300"/>
              </a:spcAft>
            </a:pPr>
            <a:r>
              <a:rPr sz="1700" b="0">
                <a:solidFill>
                  <a:srgbClr val="222222"/>
                </a:solidFill>
              </a:rPr>
              <a:t>Link related observations into one meaningful security threat or incident.</a:t>
            </a:r>
          </a:p>
        </p:txBody>
      </p:sp>
      <p:sp>
        <p:nvSpPr>
          <p:cNvPr id="9" name="Objective"/>
          <p:cNvSpPr/>
          <p:nvPr/>
        </p:nvSpPr>
        <p:spPr>
          <a:xfrm>
            <a:off x="411480" y="38862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04</a:t>
            </a:r>
          </a:p>
          <a:p>
            <a:pPr algn="l">
              <a:spcAft>
                <a:spcPts val="500"/>
              </a:spcAft>
            </a:pPr>
            <a:r>
              <a:rPr sz="2100" b="1">
                <a:solidFill>
                  <a:srgbClr val="1F4E79"/>
                </a:solidFill>
              </a:rPr>
              <a:t>Investigate with AI</a:t>
            </a:r>
          </a:p>
          <a:p>
            <a:pPr algn="l">
              <a:spcAft>
                <a:spcPts val="300"/>
              </a:spcAft>
            </a:pPr>
            <a:r>
              <a:rPr sz="1700" b="0">
                <a:solidFill>
                  <a:srgbClr val="222222"/>
                </a:solidFill>
              </a:rPr>
              <a:t>Use grounded AI reasoning to explain what happened, why it matters and what evidence supports it.</a:t>
            </a:r>
          </a:p>
        </p:txBody>
      </p:sp>
      <p:sp>
        <p:nvSpPr>
          <p:cNvPr id="10" name="Objective"/>
          <p:cNvSpPr/>
          <p:nvPr/>
        </p:nvSpPr>
        <p:spPr>
          <a:xfrm>
            <a:off x="4251960" y="38862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05</a:t>
            </a:r>
          </a:p>
          <a:p>
            <a:pPr algn="l">
              <a:spcAft>
                <a:spcPts val="500"/>
              </a:spcAft>
            </a:pPr>
            <a:r>
              <a:rPr sz="2100" b="1">
                <a:solidFill>
                  <a:srgbClr val="1F4E79"/>
                </a:solidFill>
              </a:rPr>
              <a:t>Assess Risk &amp; Recommend Action</a:t>
            </a:r>
          </a:p>
          <a:p>
            <a:pPr algn="l">
              <a:spcAft>
                <a:spcPts val="300"/>
              </a:spcAft>
            </a:pPr>
            <a:r>
              <a:rPr sz="1700" b="0">
                <a:solidFill>
                  <a:srgbClr val="222222"/>
                </a:solidFill>
              </a:rPr>
              <a:t>Separate detector confidence from actual incident risk and recommend proportionate action.</a:t>
            </a:r>
          </a:p>
        </p:txBody>
      </p:sp>
      <p:sp>
        <p:nvSpPr>
          <p:cNvPr id="11" name="Objective"/>
          <p:cNvSpPr/>
          <p:nvPr/>
        </p:nvSpPr>
        <p:spPr>
          <a:xfrm>
            <a:off x="8092440" y="3886200"/>
            <a:ext cx="3685032" cy="23317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200"/>
              </a:spcAft>
            </a:pPr>
            <a:r>
              <a:rPr sz="3400" b="1">
                <a:solidFill>
                  <a:srgbClr val="2E8B9A"/>
                </a:solidFill>
              </a:rPr>
              <a:t>06</a:t>
            </a:r>
          </a:p>
          <a:p>
            <a:pPr algn="l">
              <a:spcAft>
                <a:spcPts val="500"/>
              </a:spcAft>
            </a:pPr>
            <a:r>
              <a:rPr sz="2100" b="1">
                <a:solidFill>
                  <a:srgbClr val="1F4E79"/>
                </a:solidFill>
              </a:rPr>
              <a:t>Respond Safely</a:t>
            </a:r>
          </a:p>
          <a:p>
            <a:pPr algn="l">
              <a:spcAft>
                <a:spcPts val="300"/>
              </a:spcAft>
            </a:pPr>
            <a:r>
              <a:rPr sz="1700" b="0">
                <a:solidFill>
                  <a:srgbClr val="222222"/>
                </a:solidFill>
              </a:rPr>
              <a:t>Evaluate disruptive response options in a Digital Twin before any real endpoint action.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Problem Statement</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Challenges"/>
          <p:cNvSpPr/>
          <p:nvPr/>
        </p:nvSpPr>
        <p:spPr>
          <a:xfrm>
            <a:off x="411480" y="1371600"/>
            <a:ext cx="5577840" cy="4892040"/>
          </a:xfrm>
          <a:prstGeom prst="roundRect">
            <a:avLst>
              <a:gd name="adj" fmla="val 6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t"/>
          <a:lstStyle/>
          <a:p>
            <a:pPr algn="l">
              <a:spcAft>
                <a:spcPts val="600"/>
              </a:spcAft>
            </a:pPr>
            <a:r>
              <a:rPr sz="2200" b="1" dirty="0">
                <a:solidFill>
                  <a:srgbClr val="C55A11"/>
                </a:solidFill>
              </a:rPr>
              <a:t>Endpoint-security challenges</a:t>
            </a:r>
          </a:p>
          <a:p>
            <a:pPr algn="l">
              <a:spcAft>
                <a:spcPts val="500"/>
              </a:spcAft>
            </a:pPr>
            <a:r>
              <a:rPr sz="1700" b="0" dirty="0">
                <a:solidFill>
                  <a:srgbClr val="222222"/>
                </a:solidFill>
              </a:rPr>
              <a:t>• Security detectors often operate independently, producing disconnected alerts.</a:t>
            </a:r>
          </a:p>
          <a:p>
            <a:pPr algn="l">
              <a:spcAft>
                <a:spcPts val="500"/>
              </a:spcAft>
            </a:pPr>
            <a:r>
              <a:rPr sz="1700" b="0" dirty="0">
                <a:solidFill>
                  <a:srgbClr val="222222"/>
                </a:solidFill>
              </a:rPr>
              <a:t>• A single classifier can miss multi-stage or context-dependent attacks.</a:t>
            </a:r>
          </a:p>
          <a:p>
            <a:pPr algn="l">
              <a:spcAft>
                <a:spcPts val="500"/>
              </a:spcAft>
            </a:pPr>
            <a:r>
              <a:rPr sz="1700" b="0" dirty="0">
                <a:solidFill>
                  <a:srgbClr val="222222"/>
                </a:solidFill>
              </a:rPr>
              <a:t>• An anomaly score does not automatically mean malware.</a:t>
            </a:r>
          </a:p>
          <a:p>
            <a:pPr algn="l">
              <a:spcAft>
                <a:spcPts val="500"/>
              </a:spcAft>
            </a:pPr>
            <a:r>
              <a:rPr sz="1700" b="0" dirty="0">
                <a:solidFill>
                  <a:srgbClr val="222222"/>
                </a:solidFill>
              </a:rPr>
              <a:t>• Users often receive a threat label without understandable evidence.</a:t>
            </a:r>
          </a:p>
          <a:p>
            <a:pPr algn="l">
              <a:spcAft>
                <a:spcPts val="500"/>
              </a:spcAft>
            </a:pPr>
            <a:r>
              <a:rPr sz="1700" b="0" dirty="0">
                <a:solidFill>
                  <a:srgbClr val="222222"/>
                </a:solidFill>
              </a:rPr>
              <a:t>• Detector confidence can be confused with actual security risk.</a:t>
            </a:r>
          </a:p>
          <a:p>
            <a:pPr algn="l">
              <a:spcAft>
                <a:spcPts val="500"/>
              </a:spcAft>
            </a:pPr>
            <a:r>
              <a:rPr sz="1700" b="0" dirty="0">
                <a:solidFill>
                  <a:srgbClr val="222222"/>
                </a:solidFill>
              </a:rPr>
              <a:t>• Automatic blocking or isolation may disrupt legitimate activity.</a:t>
            </a:r>
          </a:p>
          <a:p>
            <a:pPr algn="l">
              <a:spcAft>
                <a:spcPts val="500"/>
              </a:spcAft>
            </a:pPr>
            <a:endParaRPr sz="1700" b="0" dirty="0">
              <a:solidFill>
                <a:srgbClr val="222222"/>
              </a:solidFill>
            </a:endParaRPr>
          </a:p>
        </p:txBody>
      </p:sp>
      <p:sp>
        <p:nvSpPr>
          <p:cNvPr id="7" name="Provides"/>
          <p:cNvSpPr/>
          <p:nvPr/>
        </p:nvSpPr>
        <p:spPr>
          <a:xfrm>
            <a:off x="6199632" y="1371600"/>
            <a:ext cx="5577840" cy="489204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wrap="square" lIns="201168" rIns="201168" rtlCol="0" anchor="t"/>
          <a:lstStyle/>
          <a:p>
            <a:pPr algn="l">
              <a:spcAft>
                <a:spcPts val="600"/>
              </a:spcAft>
            </a:pPr>
            <a:r>
              <a:rPr sz="2200" b="1">
                <a:solidFill>
                  <a:srgbClr val="2E7D32"/>
                </a:solidFill>
              </a:rPr>
              <a:t>What Sentinel-X provides</a:t>
            </a:r>
          </a:p>
          <a:p>
            <a:pPr algn="l">
              <a:spcAft>
                <a:spcPts val="500"/>
              </a:spcAft>
            </a:pPr>
            <a:r>
              <a:rPr sz="1700" b="0">
                <a:solidFill>
                  <a:srgbClr val="222222"/>
                </a:solidFill>
              </a:rPr>
              <a:t>• Unified endpoint telemetry representation.</a:t>
            </a:r>
          </a:p>
          <a:p>
            <a:pPr algn="l">
              <a:spcAft>
                <a:spcPts val="500"/>
              </a:spcAft>
            </a:pPr>
            <a:r>
              <a:rPr sz="1700" b="0">
                <a:solidFill>
                  <a:srgbClr val="222222"/>
                </a:solidFill>
              </a:rPr>
              <a:t>• Multi-layer detection using rules + ML + DL.</a:t>
            </a:r>
          </a:p>
          <a:p>
            <a:pPr algn="l">
              <a:spcAft>
                <a:spcPts val="500"/>
              </a:spcAft>
            </a:pPr>
            <a:r>
              <a:rPr sz="1700" b="0">
                <a:solidFill>
                  <a:srgbClr val="222222"/>
                </a:solidFill>
              </a:rPr>
              <a:t>• Evidence fusion and cross-telemetry correlation.</a:t>
            </a:r>
          </a:p>
          <a:p>
            <a:pPr algn="l">
              <a:spcAft>
                <a:spcPts val="500"/>
              </a:spcAft>
            </a:pPr>
            <a:r>
              <a:rPr sz="1700" b="0">
                <a:solidFill>
                  <a:srgbClr val="222222"/>
                </a:solidFill>
              </a:rPr>
              <a:t>• Explainable AI-assisted investigation.</a:t>
            </a:r>
          </a:p>
          <a:p>
            <a:pPr algn="l">
              <a:spcAft>
                <a:spcPts val="500"/>
              </a:spcAft>
            </a:pPr>
            <a:r>
              <a:rPr sz="1700" b="0">
                <a:solidFill>
                  <a:srgbClr val="222222"/>
                </a:solidFill>
              </a:rPr>
              <a:t>• Separate risk reasoning and response recommendation.</a:t>
            </a:r>
          </a:p>
          <a:p>
            <a:pPr algn="l">
              <a:spcAft>
                <a:spcPts val="500"/>
              </a:spcAft>
            </a:pPr>
            <a:r>
              <a:rPr sz="1700" b="0">
                <a:solidFill>
                  <a:srgbClr val="222222"/>
                </a:solidFill>
              </a:rPr>
              <a:t>• Digital Twin simulation before disruptive responses.</a:t>
            </a:r>
          </a:p>
          <a:p>
            <a:pPr algn="l">
              <a:spcAft>
                <a:spcPts val="500"/>
              </a:spcAft>
            </a:pPr>
            <a:r>
              <a:rPr sz="1700" b="0">
                <a:solidFill>
                  <a:srgbClr val="222222"/>
                </a:solidFill>
              </a:rPr>
              <a:t>• User-focused security dashboard and Live Monitor.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Approach / Algorithms / Tools</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graphicFrame>
        <p:nvGraphicFramePr>
          <p:cNvPr id="6" name="Tools Table"/>
          <p:cNvGraphicFramePr>
            <a:graphicFrameLocks noGrp="1"/>
          </p:cNvGraphicFramePr>
          <p:nvPr>
            <p:extLst>
              <p:ext uri="{D42A27DB-BD31-4B8C-83A1-F6EECF244321}">
                <p14:modId xmlns:p14="http://schemas.microsoft.com/office/powerpoint/2010/main" val="4016926395"/>
              </p:ext>
            </p:extLst>
          </p:nvPr>
        </p:nvGraphicFramePr>
        <p:xfrm>
          <a:off x="411480" y="1371599"/>
          <a:ext cx="5577840" cy="4630365"/>
        </p:xfrm>
        <a:graphic>
          <a:graphicData uri="http://schemas.openxmlformats.org/drawingml/2006/table">
            <a:tbl>
              <a:tblPr>
                <a:tableStyleId>{2D5ABB26-0587-4C30-8999-92F81FD0307C}</a:tableStyleId>
              </a:tblPr>
              <a:tblGrid>
                <a:gridCol w="20116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514485">
                <a:tc>
                  <a:txBody>
                    <a:bodyPr/>
                    <a:lstStyle/>
                    <a:p>
                      <a:r>
                        <a:rPr sz="1300" b="1">
                          <a:solidFill>
                            <a:srgbClr val="FFFFFF"/>
                          </a:solidFill>
                        </a:rPr>
                        <a:t>Area</a:t>
                      </a:r>
                    </a:p>
                  </a:txBody>
                  <a:tcPr marL="109728" marR="73152" marT="27432" marB="27432" anchor="ctr">
                    <a:solidFill>
                      <a:srgbClr val="1F4E79"/>
                    </a:solidFill>
                  </a:tcPr>
                </a:tc>
                <a:tc>
                  <a:txBody>
                    <a:bodyPr/>
                    <a:lstStyle/>
                    <a:p>
                      <a:r>
                        <a:rPr sz="1300" b="1">
                          <a:solidFill>
                            <a:srgbClr val="FFFFFF"/>
                          </a:solidFill>
                        </a:rPr>
                        <a:t>Technology / Approach</a:t>
                      </a:r>
                    </a:p>
                  </a:txBody>
                  <a:tcPr marL="109728" marR="73152" marT="27432" marB="27432" anchor="ctr">
                    <a:solidFill>
                      <a:srgbClr val="1F4E79"/>
                    </a:solidFill>
                  </a:tcPr>
                </a:tc>
                <a:extLst>
                  <a:ext uri="{0D108BD9-81ED-4DB2-BD59-A6C34878D82A}">
                    <a16:rowId xmlns:a16="http://schemas.microsoft.com/office/drawing/2014/main" val="10000"/>
                  </a:ext>
                </a:extLst>
              </a:tr>
              <a:tr h="514485">
                <a:tc>
                  <a:txBody>
                    <a:bodyPr/>
                    <a:lstStyle/>
                    <a:p>
                      <a:r>
                        <a:rPr sz="1200" b="1">
                          <a:solidFill>
                            <a:srgbClr val="1F4E79"/>
                          </a:solidFill>
                        </a:rPr>
                        <a:t>Language</a:t>
                      </a:r>
                    </a:p>
                  </a:txBody>
                  <a:tcPr marL="109728" marR="73152" marT="27432" marB="27432" anchor="ctr">
                    <a:solidFill>
                      <a:srgbClr val="EAF3FB"/>
                    </a:solidFill>
                  </a:tcPr>
                </a:tc>
                <a:tc>
                  <a:txBody>
                    <a:bodyPr/>
                    <a:lstStyle/>
                    <a:p>
                      <a:r>
                        <a:rPr sz="1200" b="0">
                          <a:solidFill>
                            <a:srgbClr val="222222"/>
                          </a:solidFill>
                        </a:rPr>
                        <a:t>Python, JavaScript</a:t>
                      </a:r>
                    </a:p>
                  </a:txBody>
                  <a:tcPr marL="109728" marR="73152" marT="27432" marB="27432" anchor="ctr">
                    <a:solidFill>
                      <a:srgbClr val="EAF3FB"/>
                    </a:solidFill>
                  </a:tcPr>
                </a:tc>
                <a:extLst>
                  <a:ext uri="{0D108BD9-81ED-4DB2-BD59-A6C34878D82A}">
                    <a16:rowId xmlns:a16="http://schemas.microsoft.com/office/drawing/2014/main" val="10001"/>
                  </a:ext>
                </a:extLst>
              </a:tr>
              <a:tr h="514485">
                <a:tc>
                  <a:txBody>
                    <a:bodyPr/>
                    <a:lstStyle/>
                    <a:p>
                      <a:r>
                        <a:rPr sz="1200" b="1">
                          <a:solidFill>
                            <a:srgbClr val="1F4E79"/>
                          </a:solidFill>
                        </a:rPr>
                        <a:t>Backend</a:t>
                      </a:r>
                    </a:p>
                  </a:txBody>
                  <a:tcPr marL="109728" marR="73152" marT="27432" marB="27432" anchor="ctr">
                    <a:solidFill>
                      <a:srgbClr val="FFFFFF"/>
                    </a:solidFill>
                  </a:tcPr>
                </a:tc>
                <a:tc>
                  <a:txBody>
                    <a:bodyPr/>
                    <a:lstStyle/>
                    <a:p>
                      <a:r>
                        <a:rPr sz="1200" b="0">
                          <a:solidFill>
                            <a:srgbClr val="222222"/>
                          </a:solidFill>
                        </a:rPr>
                        <a:t>FastAPI, REST APIs</a:t>
                      </a:r>
                    </a:p>
                  </a:txBody>
                  <a:tcPr marL="109728" marR="73152" marT="27432" marB="27432" anchor="ctr">
                    <a:solidFill>
                      <a:srgbClr val="FFFFFF"/>
                    </a:solidFill>
                  </a:tcPr>
                </a:tc>
                <a:extLst>
                  <a:ext uri="{0D108BD9-81ED-4DB2-BD59-A6C34878D82A}">
                    <a16:rowId xmlns:a16="http://schemas.microsoft.com/office/drawing/2014/main" val="10002"/>
                  </a:ext>
                </a:extLst>
              </a:tr>
              <a:tr h="514485">
                <a:tc>
                  <a:txBody>
                    <a:bodyPr/>
                    <a:lstStyle/>
                    <a:p>
                      <a:r>
                        <a:rPr sz="1200" b="1">
                          <a:solidFill>
                            <a:srgbClr val="1F4E79"/>
                          </a:solidFill>
                        </a:rPr>
                        <a:t>Frontend</a:t>
                      </a:r>
                    </a:p>
                  </a:txBody>
                  <a:tcPr marL="109728" marR="73152" marT="27432" marB="27432" anchor="ctr">
                    <a:solidFill>
                      <a:srgbClr val="EAF3FB"/>
                    </a:solidFill>
                  </a:tcPr>
                </a:tc>
                <a:tc>
                  <a:txBody>
                    <a:bodyPr/>
                    <a:lstStyle/>
                    <a:p>
                      <a:r>
                        <a:rPr sz="1200" b="0">
                          <a:solidFill>
                            <a:srgbClr val="222222"/>
                          </a:solidFill>
                        </a:rPr>
                        <a:t>React.js, Vite, Material UI, Axios</a:t>
                      </a:r>
                    </a:p>
                  </a:txBody>
                  <a:tcPr marL="109728" marR="73152" marT="27432" marB="27432" anchor="ctr">
                    <a:solidFill>
                      <a:srgbClr val="EAF3FB"/>
                    </a:solidFill>
                  </a:tcPr>
                </a:tc>
                <a:extLst>
                  <a:ext uri="{0D108BD9-81ED-4DB2-BD59-A6C34878D82A}">
                    <a16:rowId xmlns:a16="http://schemas.microsoft.com/office/drawing/2014/main" val="10003"/>
                  </a:ext>
                </a:extLst>
              </a:tr>
              <a:tr h="514485">
                <a:tc>
                  <a:txBody>
                    <a:bodyPr/>
                    <a:lstStyle/>
                    <a:p>
                      <a:r>
                        <a:rPr sz="1200" b="1">
                          <a:solidFill>
                            <a:srgbClr val="1F4E79"/>
                          </a:solidFill>
                        </a:rPr>
                        <a:t>Database</a:t>
                      </a:r>
                    </a:p>
                  </a:txBody>
                  <a:tcPr marL="109728" marR="73152" marT="27432" marB="27432" anchor="ctr">
                    <a:solidFill>
                      <a:srgbClr val="FFFFFF"/>
                    </a:solidFill>
                  </a:tcPr>
                </a:tc>
                <a:tc>
                  <a:txBody>
                    <a:bodyPr/>
                    <a:lstStyle/>
                    <a:p>
                      <a:r>
                        <a:rPr sz="1200" b="0">
                          <a:solidFill>
                            <a:srgbClr val="222222"/>
                          </a:solidFill>
                        </a:rPr>
                        <a:t>SQLite</a:t>
                      </a:r>
                    </a:p>
                  </a:txBody>
                  <a:tcPr marL="109728" marR="73152" marT="27432" marB="27432" anchor="ctr">
                    <a:solidFill>
                      <a:srgbClr val="FFFFFF"/>
                    </a:solidFill>
                  </a:tcPr>
                </a:tc>
                <a:extLst>
                  <a:ext uri="{0D108BD9-81ED-4DB2-BD59-A6C34878D82A}">
                    <a16:rowId xmlns:a16="http://schemas.microsoft.com/office/drawing/2014/main" val="10004"/>
                  </a:ext>
                </a:extLst>
              </a:tr>
              <a:tr h="514485">
                <a:tc>
                  <a:txBody>
                    <a:bodyPr/>
                    <a:lstStyle/>
                    <a:p>
                      <a:r>
                        <a:rPr sz="1200" b="1">
                          <a:solidFill>
                            <a:srgbClr val="1F4E79"/>
                          </a:solidFill>
                        </a:rPr>
                        <a:t>Endpoint Monitoring</a:t>
                      </a:r>
                    </a:p>
                  </a:txBody>
                  <a:tcPr marL="109728" marR="73152" marT="27432" marB="27432" anchor="ctr">
                    <a:solidFill>
                      <a:srgbClr val="EAF3FB"/>
                    </a:solidFill>
                  </a:tcPr>
                </a:tc>
                <a:tc>
                  <a:txBody>
                    <a:bodyPr/>
                    <a:lstStyle/>
                    <a:p>
                      <a:r>
                        <a:rPr sz="1200" b="0">
                          <a:solidFill>
                            <a:srgbClr val="222222"/>
                          </a:solidFill>
                        </a:rPr>
                        <a:t>Windows Process, File, Network, Registry collectors</a:t>
                      </a:r>
                    </a:p>
                  </a:txBody>
                  <a:tcPr marL="109728" marR="73152" marT="27432" marB="27432" anchor="ctr">
                    <a:solidFill>
                      <a:srgbClr val="EAF3FB"/>
                    </a:solidFill>
                  </a:tcPr>
                </a:tc>
                <a:extLst>
                  <a:ext uri="{0D108BD9-81ED-4DB2-BD59-A6C34878D82A}">
                    <a16:rowId xmlns:a16="http://schemas.microsoft.com/office/drawing/2014/main" val="10005"/>
                  </a:ext>
                </a:extLst>
              </a:tr>
              <a:tr h="514485">
                <a:tc>
                  <a:txBody>
                    <a:bodyPr/>
                    <a:lstStyle/>
                    <a:p>
                      <a:r>
                        <a:rPr sz="1200" b="1">
                          <a:solidFill>
                            <a:srgbClr val="1F4E79"/>
                          </a:solidFill>
                        </a:rPr>
                        <a:t>Behavioral Detection</a:t>
                      </a:r>
                    </a:p>
                  </a:txBody>
                  <a:tcPr marL="109728" marR="73152" marT="27432" marB="27432" anchor="ctr">
                    <a:solidFill>
                      <a:srgbClr val="FFFFFF"/>
                    </a:solidFill>
                  </a:tcPr>
                </a:tc>
                <a:tc>
                  <a:txBody>
                    <a:bodyPr/>
                    <a:lstStyle/>
                    <a:p>
                      <a:r>
                        <a:rPr sz="1200" b="0">
                          <a:solidFill>
                            <a:srgbClr val="222222"/>
                          </a:solidFill>
                        </a:rPr>
                        <a:t>Rules and statistical logic</a:t>
                      </a:r>
                    </a:p>
                  </a:txBody>
                  <a:tcPr marL="109728" marR="73152" marT="27432" marB="27432" anchor="ctr">
                    <a:solidFill>
                      <a:srgbClr val="FFFFFF"/>
                    </a:solidFill>
                  </a:tcPr>
                </a:tc>
                <a:extLst>
                  <a:ext uri="{0D108BD9-81ED-4DB2-BD59-A6C34878D82A}">
                    <a16:rowId xmlns:a16="http://schemas.microsoft.com/office/drawing/2014/main" val="10006"/>
                  </a:ext>
                </a:extLst>
              </a:tr>
              <a:tr h="514485">
                <a:tc>
                  <a:txBody>
                    <a:bodyPr/>
                    <a:lstStyle/>
                    <a:p>
                      <a:r>
                        <a:rPr sz="1200" b="1">
                          <a:solidFill>
                            <a:srgbClr val="1F4E79"/>
                          </a:solidFill>
                        </a:rPr>
                        <a:t>Anomaly ML</a:t>
                      </a:r>
                    </a:p>
                  </a:txBody>
                  <a:tcPr marL="109728" marR="73152" marT="27432" marB="27432" anchor="ctr">
                    <a:solidFill>
                      <a:srgbClr val="EAF3FB"/>
                    </a:solidFill>
                  </a:tcPr>
                </a:tc>
                <a:tc>
                  <a:txBody>
                    <a:bodyPr/>
                    <a:lstStyle/>
                    <a:p>
                      <a:r>
                        <a:rPr sz="1200" b="0">
                          <a:solidFill>
                            <a:srgbClr val="222222"/>
                          </a:solidFill>
                        </a:rPr>
                        <a:t>Isolation Forest</a:t>
                      </a:r>
                    </a:p>
                  </a:txBody>
                  <a:tcPr marL="109728" marR="73152" marT="27432" marB="27432" anchor="ctr">
                    <a:solidFill>
                      <a:srgbClr val="EAF3FB"/>
                    </a:solidFill>
                  </a:tcPr>
                </a:tc>
                <a:extLst>
                  <a:ext uri="{0D108BD9-81ED-4DB2-BD59-A6C34878D82A}">
                    <a16:rowId xmlns:a16="http://schemas.microsoft.com/office/drawing/2014/main" val="10007"/>
                  </a:ext>
                </a:extLst>
              </a:tr>
              <a:tr h="514485">
                <a:tc>
                  <a:txBody>
                    <a:bodyPr/>
                    <a:lstStyle/>
                    <a:p>
                      <a:r>
                        <a:rPr sz="1200" b="1">
                          <a:solidFill>
                            <a:srgbClr val="1F4E79"/>
                          </a:solidFill>
                        </a:rPr>
                        <a:t>Neural Anomaly Detection</a:t>
                      </a:r>
                    </a:p>
                  </a:txBody>
                  <a:tcPr marL="109728" marR="73152" marT="27432" marB="27432" anchor="ctr">
                    <a:solidFill>
                      <a:srgbClr val="FFFFFF"/>
                    </a:solidFill>
                  </a:tcPr>
                </a:tc>
                <a:tc>
                  <a:txBody>
                    <a:bodyPr/>
                    <a:lstStyle/>
                    <a:p>
                      <a:r>
                        <a:rPr sz="1200" b="0" dirty="0">
                          <a:solidFill>
                            <a:srgbClr val="222222"/>
                          </a:solidFill>
                        </a:rPr>
                        <a:t>Autoencoder v2</a:t>
                      </a:r>
                    </a:p>
                  </a:txBody>
                  <a:tcPr marL="109728" marR="73152" marT="27432" marB="27432" anchor="ctr">
                    <a:solidFill>
                      <a:srgbClr val="FFFFFF"/>
                    </a:solidFill>
                  </a:tcPr>
                </a:tc>
                <a:extLst>
                  <a:ext uri="{0D108BD9-81ED-4DB2-BD59-A6C34878D82A}">
                    <a16:rowId xmlns:a16="http://schemas.microsoft.com/office/drawing/2014/main" val="10008"/>
                  </a:ext>
                </a:extLst>
              </a:tr>
            </a:tbl>
          </a:graphicData>
        </a:graphic>
      </p:graphicFrame>
      <p:graphicFrame>
        <p:nvGraphicFramePr>
          <p:cNvPr id="7" name="Tools Table"/>
          <p:cNvGraphicFramePr>
            <a:graphicFrameLocks noGrp="1"/>
          </p:cNvGraphicFramePr>
          <p:nvPr>
            <p:extLst>
              <p:ext uri="{D42A27DB-BD31-4B8C-83A1-F6EECF244321}">
                <p14:modId xmlns:p14="http://schemas.microsoft.com/office/powerpoint/2010/main" val="1959963599"/>
              </p:ext>
            </p:extLst>
          </p:nvPr>
        </p:nvGraphicFramePr>
        <p:xfrm>
          <a:off x="6199632" y="1371599"/>
          <a:ext cx="5577840" cy="4630365"/>
        </p:xfrm>
        <a:graphic>
          <a:graphicData uri="http://schemas.openxmlformats.org/drawingml/2006/table">
            <a:tbl>
              <a:tblPr>
                <a:tableStyleId>{2D5ABB26-0587-4C30-8999-92F81FD0307C}</a:tableStyleId>
              </a:tblPr>
              <a:tblGrid>
                <a:gridCol w="20116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tblGrid>
              <a:tr h="514485">
                <a:tc>
                  <a:txBody>
                    <a:bodyPr/>
                    <a:lstStyle/>
                    <a:p>
                      <a:r>
                        <a:rPr sz="1300" b="1">
                          <a:solidFill>
                            <a:srgbClr val="FFFFFF"/>
                          </a:solidFill>
                        </a:rPr>
                        <a:t>Area</a:t>
                      </a:r>
                    </a:p>
                  </a:txBody>
                  <a:tcPr marL="109728" marR="73152" marT="27432" marB="27432" anchor="ctr">
                    <a:solidFill>
                      <a:srgbClr val="1F4E79"/>
                    </a:solidFill>
                  </a:tcPr>
                </a:tc>
                <a:tc>
                  <a:txBody>
                    <a:bodyPr/>
                    <a:lstStyle/>
                    <a:p>
                      <a:r>
                        <a:rPr sz="1300" b="1">
                          <a:solidFill>
                            <a:srgbClr val="FFFFFF"/>
                          </a:solidFill>
                        </a:rPr>
                        <a:t>Technology / Approach</a:t>
                      </a:r>
                    </a:p>
                  </a:txBody>
                  <a:tcPr marL="109728" marR="73152" marT="27432" marB="27432" anchor="ctr">
                    <a:solidFill>
                      <a:srgbClr val="1F4E79"/>
                    </a:solidFill>
                  </a:tcPr>
                </a:tc>
                <a:extLst>
                  <a:ext uri="{0D108BD9-81ED-4DB2-BD59-A6C34878D82A}">
                    <a16:rowId xmlns:a16="http://schemas.microsoft.com/office/drawing/2014/main" val="10000"/>
                  </a:ext>
                </a:extLst>
              </a:tr>
              <a:tr h="514485">
                <a:tc>
                  <a:txBody>
                    <a:bodyPr/>
                    <a:lstStyle/>
                    <a:p>
                      <a:r>
                        <a:rPr sz="1200" b="1">
                          <a:solidFill>
                            <a:srgbClr val="1F4E79"/>
                          </a:solidFill>
                        </a:rPr>
                        <a:t>Sequence AI</a:t>
                      </a:r>
                    </a:p>
                  </a:txBody>
                  <a:tcPr marL="109728" marR="73152" marT="27432" marB="27432" anchor="ctr">
                    <a:solidFill>
                      <a:srgbClr val="EAF3FB"/>
                    </a:solidFill>
                  </a:tcPr>
                </a:tc>
                <a:tc>
                  <a:txBody>
                    <a:bodyPr/>
                    <a:lstStyle/>
                    <a:p>
                      <a:r>
                        <a:rPr sz="1200" b="0">
                          <a:solidFill>
                            <a:srgbClr val="222222"/>
                          </a:solidFill>
                        </a:rPr>
                        <a:t>Temporal Transformer</a:t>
                      </a:r>
                    </a:p>
                  </a:txBody>
                  <a:tcPr marL="109728" marR="73152" marT="27432" marB="27432" anchor="ctr">
                    <a:solidFill>
                      <a:srgbClr val="EAF3FB"/>
                    </a:solidFill>
                  </a:tcPr>
                </a:tc>
                <a:extLst>
                  <a:ext uri="{0D108BD9-81ED-4DB2-BD59-A6C34878D82A}">
                    <a16:rowId xmlns:a16="http://schemas.microsoft.com/office/drawing/2014/main" val="10001"/>
                  </a:ext>
                </a:extLst>
              </a:tr>
              <a:tr h="514485">
                <a:tc>
                  <a:txBody>
                    <a:bodyPr/>
                    <a:lstStyle/>
                    <a:p>
                      <a:r>
                        <a:rPr sz="1200" b="1">
                          <a:solidFill>
                            <a:srgbClr val="1F4E79"/>
                          </a:solidFill>
                        </a:rPr>
                        <a:t>Relationship AI</a:t>
                      </a:r>
                    </a:p>
                  </a:txBody>
                  <a:tcPr marL="109728" marR="73152" marT="27432" marB="27432" anchor="ctr">
                    <a:solidFill>
                      <a:srgbClr val="FFFFFF"/>
                    </a:solidFill>
                  </a:tcPr>
                </a:tc>
                <a:tc>
                  <a:txBody>
                    <a:bodyPr/>
                    <a:lstStyle/>
                    <a:p>
                      <a:r>
                        <a:rPr sz="1200" b="0">
                          <a:solidFill>
                            <a:srgbClr val="222222"/>
                          </a:solidFill>
                        </a:rPr>
                        <a:t>Graph AI / PyTorch</a:t>
                      </a:r>
                    </a:p>
                  </a:txBody>
                  <a:tcPr marL="109728" marR="73152" marT="27432" marB="27432" anchor="ctr">
                    <a:solidFill>
                      <a:srgbClr val="FFFFFF"/>
                    </a:solidFill>
                  </a:tcPr>
                </a:tc>
                <a:extLst>
                  <a:ext uri="{0D108BD9-81ED-4DB2-BD59-A6C34878D82A}">
                    <a16:rowId xmlns:a16="http://schemas.microsoft.com/office/drawing/2014/main" val="10002"/>
                  </a:ext>
                </a:extLst>
              </a:tr>
              <a:tr h="514485">
                <a:tc>
                  <a:txBody>
                    <a:bodyPr/>
                    <a:lstStyle/>
                    <a:p>
                      <a:r>
                        <a:rPr sz="1200" b="1">
                          <a:solidFill>
                            <a:srgbClr val="1F4E79"/>
                          </a:solidFill>
                        </a:rPr>
                        <a:t>Malware ML</a:t>
                      </a:r>
                    </a:p>
                  </a:txBody>
                  <a:tcPr marL="109728" marR="73152" marT="27432" marB="27432" anchor="ctr">
                    <a:solidFill>
                      <a:srgbClr val="EAF3FB"/>
                    </a:solidFill>
                  </a:tcPr>
                </a:tc>
                <a:tc>
                  <a:txBody>
                    <a:bodyPr/>
                    <a:lstStyle/>
                    <a:p>
                      <a:r>
                        <a:rPr sz="1200" b="0">
                          <a:solidFill>
                            <a:srgbClr val="222222"/>
                          </a:solidFill>
                        </a:rPr>
                        <a:t>EMBER features + XGBoost</a:t>
                      </a:r>
                    </a:p>
                  </a:txBody>
                  <a:tcPr marL="109728" marR="73152" marT="27432" marB="27432" anchor="ctr">
                    <a:solidFill>
                      <a:srgbClr val="EAF3FB"/>
                    </a:solidFill>
                  </a:tcPr>
                </a:tc>
                <a:extLst>
                  <a:ext uri="{0D108BD9-81ED-4DB2-BD59-A6C34878D82A}">
                    <a16:rowId xmlns:a16="http://schemas.microsoft.com/office/drawing/2014/main" val="10003"/>
                  </a:ext>
                </a:extLst>
              </a:tr>
              <a:tr h="514485">
                <a:tc>
                  <a:txBody>
                    <a:bodyPr/>
                    <a:lstStyle/>
                    <a:p>
                      <a:r>
                        <a:rPr sz="1200" b="1">
                          <a:solidFill>
                            <a:srgbClr val="1F4E79"/>
                          </a:solidFill>
                        </a:rPr>
                        <a:t>Network Research ML</a:t>
                      </a:r>
                    </a:p>
                  </a:txBody>
                  <a:tcPr marL="109728" marR="73152" marT="27432" marB="27432" anchor="ctr">
                    <a:solidFill>
                      <a:srgbClr val="FFFFFF"/>
                    </a:solidFill>
                  </a:tcPr>
                </a:tc>
                <a:tc>
                  <a:txBody>
                    <a:bodyPr/>
                    <a:lstStyle/>
                    <a:p>
                      <a:r>
                        <a:rPr sz="1200" b="0">
                          <a:solidFill>
                            <a:srgbClr val="222222"/>
                          </a:solidFill>
                        </a:rPr>
                        <a:t>CICIDS2017 + Random Forest</a:t>
                      </a:r>
                    </a:p>
                  </a:txBody>
                  <a:tcPr marL="109728" marR="73152" marT="27432" marB="27432" anchor="ctr">
                    <a:solidFill>
                      <a:srgbClr val="FFFFFF"/>
                    </a:solidFill>
                  </a:tcPr>
                </a:tc>
                <a:extLst>
                  <a:ext uri="{0D108BD9-81ED-4DB2-BD59-A6C34878D82A}">
                    <a16:rowId xmlns:a16="http://schemas.microsoft.com/office/drawing/2014/main" val="10004"/>
                  </a:ext>
                </a:extLst>
              </a:tr>
              <a:tr h="514485">
                <a:tc>
                  <a:txBody>
                    <a:bodyPr/>
                    <a:lstStyle/>
                    <a:p>
                      <a:r>
                        <a:rPr sz="1200" b="1">
                          <a:solidFill>
                            <a:srgbClr val="1F4E79"/>
                          </a:solidFill>
                        </a:rPr>
                        <a:t>AI Reasoning</a:t>
                      </a:r>
                    </a:p>
                  </a:txBody>
                  <a:tcPr marL="109728" marR="73152" marT="27432" marB="27432" anchor="ctr">
                    <a:solidFill>
                      <a:srgbClr val="EAF3FB"/>
                    </a:solidFill>
                  </a:tcPr>
                </a:tc>
                <a:tc>
                  <a:txBody>
                    <a:bodyPr/>
                    <a:lstStyle/>
                    <a:p>
                      <a:r>
                        <a:rPr sz="1200" b="0">
                          <a:solidFill>
                            <a:srgbClr val="222222"/>
                          </a:solidFill>
                        </a:rPr>
                        <a:t>Evidence-grounded LLM-assisted agents</a:t>
                      </a:r>
                    </a:p>
                  </a:txBody>
                  <a:tcPr marL="109728" marR="73152" marT="27432" marB="27432" anchor="ctr">
                    <a:solidFill>
                      <a:srgbClr val="EAF3FB"/>
                    </a:solidFill>
                  </a:tcPr>
                </a:tc>
                <a:extLst>
                  <a:ext uri="{0D108BD9-81ED-4DB2-BD59-A6C34878D82A}">
                    <a16:rowId xmlns:a16="http://schemas.microsoft.com/office/drawing/2014/main" val="10005"/>
                  </a:ext>
                </a:extLst>
              </a:tr>
              <a:tr h="514485">
                <a:tc>
                  <a:txBody>
                    <a:bodyPr/>
                    <a:lstStyle/>
                    <a:p>
                      <a:r>
                        <a:rPr sz="1200" b="1" dirty="0">
                          <a:solidFill>
                            <a:srgbClr val="1F4E79"/>
                          </a:solidFill>
                        </a:rPr>
                        <a:t>Response Planning</a:t>
                      </a:r>
                    </a:p>
                  </a:txBody>
                  <a:tcPr marL="109728" marR="73152" marT="27432" marB="27432" anchor="ctr">
                    <a:solidFill>
                      <a:srgbClr val="FFFFFF"/>
                    </a:solidFill>
                  </a:tcPr>
                </a:tc>
                <a:tc>
                  <a:txBody>
                    <a:bodyPr/>
                    <a:lstStyle/>
                    <a:p>
                      <a:r>
                        <a:rPr sz="1200" b="0">
                          <a:solidFill>
                            <a:srgbClr val="222222"/>
                          </a:solidFill>
                        </a:rPr>
                        <a:t>Digital Twin + protection policy</a:t>
                      </a:r>
                    </a:p>
                  </a:txBody>
                  <a:tcPr marL="109728" marR="73152" marT="27432" marB="27432" anchor="ctr">
                    <a:solidFill>
                      <a:srgbClr val="FFFFFF"/>
                    </a:solidFill>
                  </a:tcPr>
                </a:tc>
                <a:extLst>
                  <a:ext uri="{0D108BD9-81ED-4DB2-BD59-A6C34878D82A}">
                    <a16:rowId xmlns:a16="http://schemas.microsoft.com/office/drawing/2014/main" val="10006"/>
                  </a:ext>
                </a:extLst>
              </a:tr>
              <a:tr h="514485">
                <a:tc>
                  <a:txBody>
                    <a:bodyPr/>
                    <a:lstStyle/>
                    <a:p>
                      <a:r>
                        <a:rPr sz="1200" b="1">
                          <a:solidFill>
                            <a:srgbClr val="1F4E79"/>
                          </a:solidFill>
                        </a:rPr>
                        <a:t>Validation</a:t>
                      </a:r>
                    </a:p>
                  </a:txBody>
                  <a:tcPr marL="109728" marR="73152" marT="27432" marB="27432" anchor="ctr">
                    <a:solidFill>
                      <a:srgbClr val="EAF3FB"/>
                    </a:solidFill>
                  </a:tcPr>
                </a:tc>
                <a:tc>
                  <a:txBody>
                    <a:bodyPr/>
                    <a:lstStyle/>
                    <a:p>
                      <a:r>
                        <a:rPr sz="1200" b="0">
                          <a:solidFill>
                            <a:srgbClr val="222222"/>
                          </a:solidFill>
                        </a:rPr>
                        <a:t>Synthetic scenarios, boundary, regression and API/E2E tests</a:t>
                      </a:r>
                    </a:p>
                  </a:txBody>
                  <a:tcPr marL="109728" marR="73152" marT="27432" marB="27432" anchor="ctr">
                    <a:solidFill>
                      <a:srgbClr val="EAF3FB"/>
                    </a:solidFill>
                  </a:tcPr>
                </a:tc>
                <a:extLst>
                  <a:ext uri="{0D108BD9-81ED-4DB2-BD59-A6C34878D82A}">
                    <a16:rowId xmlns:a16="http://schemas.microsoft.com/office/drawing/2014/main" val="10007"/>
                  </a:ext>
                </a:extLst>
              </a:tr>
              <a:tr h="514485">
                <a:tc>
                  <a:txBody>
                    <a:bodyPr/>
                    <a:lstStyle/>
                    <a:p>
                      <a:r>
                        <a:rPr sz="1200" b="1">
                          <a:solidFill>
                            <a:srgbClr val="1F4E79"/>
                          </a:solidFill>
                        </a:rPr>
                        <a:t>Version Control</a:t>
                      </a:r>
                    </a:p>
                  </a:txBody>
                  <a:tcPr marL="109728" marR="73152" marT="27432" marB="27432" anchor="ctr">
                    <a:solidFill>
                      <a:srgbClr val="FFFFFF"/>
                    </a:solidFill>
                  </a:tcPr>
                </a:tc>
                <a:tc>
                  <a:txBody>
                    <a:bodyPr/>
                    <a:lstStyle/>
                    <a:p>
                      <a:r>
                        <a:rPr sz="1200" b="0" dirty="0">
                          <a:solidFill>
                            <a:srgbClr val="222222"/>
                          </a:solidFill>
                        </a:rPr>
                        <a:t>Git &amp; GitHub</a:t>
                      </a:r>
                    </a:p>
                  </a:txBody>
                  <a:tcPr marL="109728" marR="73152" marT="27432" marB="27432" anchor="ctr">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Methodology and System Architecture</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Stage"/>
          <p:cNvSpPr/>
          <p:nvPr/>
        </p:nvSpPr>
        <p:spPr>
          <a:xfrm>
            <a:off x="411480" y="1417320"/>
            <a:ext cx="1719072" cy="100584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Endpoint / Synthetic Scenario</a:t>
            </a:r>
          </a:p>
        </p:txBody>
      </p:sp>
      <p:cxnSp>
        <p:nvCxnSpPr>
          <p:cNvPr id="7" name="Arrow"/>
          <p:cNvCxnSpPr/>
          <p:nvPr/>
        </p:nvCxnSpPr>
        <p:spPr>
          <a:xfrm>
            <a:off x="2139696" y="192024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age"/>
          <p:cNvSpPr/>
          <p:nvPr/>
        </p:nvSpPr>
        <p:spPr>
          <a:xfrm>
            <a:off x="2340864" y="141732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Telemetry Collection</a:t>
            </a:r>
          </a:p>
          <a:p>
            <a:pPr algn="ctr">
              <a:spcAft>
                <a:spcPts val="0"/>
              </a:spcAft>
            </a:pPr>
            <a:r>
              <a:rPr sz="1250" b="0">
                <a:solidFill>
                  <a:srgbClr val="DCEBF7"/>
                </a:solidFill>
              </a:rPr>
              <a:t>Process | File | Network | Registry</a:t>
            </a:r>
          </a:p>
        </p:txBody>
      </p:sp>
      <p:cxnSp>
        <p:nvCxnSpPr>
          <p:cNvPr id="9" name="Arrow"/>
          <p:cNvCxnSpPr/>
          <p:nvPr/>
        </p:nvCxnSpPr>
        <p:spPr>
          <a:xfrm>
            <a:off x="4069079" y="1920240"/>
            <a:ext cx="192025"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Stage"/>
          <p:cNvSpPr/>
          <p:nvPr/>
        </p:nvSpPr>
        <p:spPr>
          <a:xfrm>
            <a:off x="4270248" y="141732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dirty="0">
                <a:solidFill>
                  <a:srgbClr val="FFFFFF"/>
                </a:solidFill>
              </a:rPr>
              <a:t>Canonical SecurityEvent</a:t>
            </a:r>
          </a:p>
        </p:txBody>
      </p:sp>
      <p:cxnSp>
        <p:nvCxnSpPr>
          <p:cNvPr id="11" name="Arrow"/>
          <p:cNvCxnSpPr/>
          <p:nvPr/>
        </p:nvCxnSpPr>
        <p:spPr>
          <a:xfrm>
            <a:off x="5998464" y="192024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age"/>
          <p:cNvSpPr/>
          <p:nvPr/>
        </p:nvSpPr>
        <p:spPr>
          <a:xfrm>
            <a:off x="6199632" y="141732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Multi-Layer Detection</a:t>
            </a:r>
          </a:p>
          <a:p>
            <a:pPr algn="ctr">
              <a:spcAft>
                <a:spcPts val="0"/>
              </a:spcAft>
            </a:pPr>
            <a:r>
              <a:rPr sz="1250" b="0">
                <a:solidFill>
                  <a:srgbClr val="DCEBF7"/>
                </a:solidFill>
              </a:rPr>
              <a:t>Rules | Statistical | ML | DL</a:t>
            </a:r>
          </a:p>
        </p:txBody>
      </p:sp>
      <p:cxnSp>
        <p:nvCxnSpPr>
          <p:cNvPr id="13" name="Arrow"/>
          <p:cNvCxnSpPr/>
          <p:nvPr/>
        </p:nvCxnSpPr>
        <p:spPr>
          <a:xfrm>
            <a:off x="7927848" y="192024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tage"/>
          <p:cNvSpPr/>
          <p:nvPr/>
        </p:nvSpPr>
        <p:spPr>
          <a:xfrm>
            <a:off x="8129015" y="141732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Evidence Fusion</a:t>
            </a:r>
          </a:p>
        </p:txBody>
      </p:sp>
      <p:cxnSp>
        <p:nvCxnSpPr>
          <p:cNvPr id="15" name="Arrow"/>
          <p:cNvCxnSpPr/>
          <p:nvPr/>
        </p:nvCxnSpPr>
        <p:spPr>
          <a:xfrm>
            <a:off x="9857232" y="192024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age"/>
          <p:cNvSpPr/>
          <p:nvPr/>
        </p:nvSpPr>
        <p:spPr>
          <a:xfrm>
            <a:off x="10058399" y="1417320"/>
            <a:ext cx="1719072" cy="100584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Correlation &amp; Incident</a:t>
            </a:r>
          </a:p>
        </p:txBody>
      </p:sp>
      <p:cxnSp>
        <p:nvCxnSpPr>
          <p:cNvPr id="17" name="Arrow"/>
          <p:cNvCxnSpPr/>
          <p:nvPr/>
        </p:nvCxnSpPr>
        <p:spPr>
          <a:xfrm>
            <a:off x="10917935" y="2441448"/>
            <a:ext cx="0" cy="283464"/>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Stage"/>
          <p:cNvSpPr/>
          <p:nvPr/>
        </p:nvSpPr>
        <p:spPr>
          <a:xfrm>
            <a:off x="10058399" y="274320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AI Investigation</a:t>
            </a:r>
          </a:p>
        </p:txBody>
      </p:sp>
      <p:cxnSp>
        <p:nvCxnSpPr>
          <p:cNvPr id="19" name="Arrow"/>
          <p:cNvCxnSpPr/>
          <p:nvPr/>
        </p:nvCxnSpPr>
        <p:spPr>
          <a:xfrm flipH="1">
            <a:off x="9857231" y="324612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tage"/>
          <p:cNvSpPr/>
          <p:nvPr/>
        </p:nvSpPr>
        <p:spPr>
          <a:xfrm>
            <a:off x="8129015" y="274320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Risk Assessment &amp; Response</a:t>
            </a:r>
          </a:p>
        </p:txBody>
      </p:sp>
      <p:cxnSp>
        <p:nvCxnSpPr>
          <p:cNvPr id="21" name="Arrow"/>
          <p:cNvCxnSpPr/>
          <p:nvPr/>
        </p:nvCxnSpPr>
        <p:spPr>
          <a:xfrm flipH="1">
            <a:off x="7927847" y="324612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tage"/>
          <p:cNvSpPr/>
          <p:nvPr/>
        </p:nvSpPr>
        <p:spPr>
          <a:xfrm>
            <a:off x="6199632" y="274320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Digital Twin</a:t>
            </a:r>
          </a:p>
        </p:txBody>
      </p:sp>
      <p:cxnSp>
        <p:nvCxnSpPr>
          <p:cNvPr id="23" name="Arrow"/>
          <p:cNvCxnSpPr/>
          <p:nvPr/>
        </p:nvCxnSpPr>
        <p:spPr>
          <a:xfrm flipH="1">
            <a:off x="5998464" y="3246120"/>
            <a:ext cx="192024"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Stage"/>
          <p:cNvSpPr/>
          <p:nvPr/>
        </p:nvSpPr>
        <p:spPr>
          <a:xfrm>
            <a:off x="4270248" y="2743200"/>
            <a:ext cx="1719072" cy="100584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Protection Policy</a:t>
            </a:r>
          </a:p>
        </p:txBody>
      </p:sp>
      <p:cxnSp>
        <p:nvCxnSpPr>
          <p:cNvPr id="25" name="Arrow"/>
          <p:cNvCxnSpPr/>
          <p:nvPr/>
        </p:nvCxnSpPr>
        <p:spPr>
          <a:xfrm flipH="1">
            <a:off x="4069079" y="3246120"/>
            <a:ext cx="192025"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Stage"/>
          <p:cNvSpPr/>
          <p:nvPr/>
        </p:nvSpPr>
        <p:spPr>
          <a:xfrm>
            <a:off x="2340864" y="2743200"/>
            <a:ext cx="1719072" cy="100584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200"/>
              </a:spcAft>
            </a:pPr>
            <a:r>
              <a:rPr sz="1550" b="1">
                <a:solidFill>
                  <a:srgbClr val="FFFFFF"/>
                </a:solidFill>
              </a:rPr>
              <a:t>User Interface</a:t>
            </a:r>
          </a:p>
        </p:txBody>
      </p:sp>
      <p:sp>
        <p:nvSpPr>
          <p:cNvPr id="27" name="Status Title"/>
          <p:cNvSpPr/>
          <p:nvPr/>
        </p:nvSpPr>
        <p:spPr>
          <a:xfrm>
            <a:off x="411480" y="4023360"/>
            <a:ext cx="11365992"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300"/>
              </a:spcAft>
            </a:pPr>
            <a:r>
              <a:rPr sz="1800" b="1">
                <a:solidFill>
                  <a:srgbClr val="1F4E79"/>
                </a:solidFill>
              </a:rPr>
              <a:t>Current prototype validation</a:t>
            </a:r>
          </a:p>
        </p:txBody>
      </p:sp>
      <p:sp>
        <p:nvSpPr>
          <p:cNvPr id="28" name="Synthetic"/>
          <p:cNvSpPr/>
          <p:nvPr/>
        </p:nvSpPr>
        <p:spPr>
          <a:xfrm>
            <a:off x="411480" y="4434840"/>
            <a:ext cx="5577840" cy="173736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400"/>
              </a:spcAft>
            </a:pPr>
            <a:r>
              <a:rPr sz="1700" b="1" dirty="0">
                <a:solidFill>
                  <a:srgbClr val="2E8B9A"/>
                </a:solidFill>
              </a:rPr>
              <a:t>Controlled synthetic scenarios</a:t>
            </a:r>
          </a:p>
          <a:p>
            <a:pPr algn="l">
              <a:spcAft>
                <a:spcPts val="400"/>
              </a:spcAft>
            </a:pPr>
            <a:r>
              <a:rPr sz="1600" b="0" dirty="0">
                <a:solidFill>
                  <a:srgbClr val="222222"/>
                </a:solidFill>
              </a:rPr>
              <a:t>→ full Detection → AI → Digital Twin workflow</a:t>
            </a:r>
          </a:p>
          <a:p>
            <a:pPr algn="l">
              <a:spcAft>
                <a:spcPts val="300"/>
              </a:spcAft>
            </a:pPr>
            <a:r>
              <a:rPr sz="1450" b="0" dirty="0">
                <a:solidFill>
                  <a:srgbClr val="595959"/>
                </a:solidFill>
              </a:rPr>
              <a:t>Reproducible and safe: no real attack is executed.</a:t>
            </a:r>
          </a:p>
        </p:txBody>
      </p:sp>
      <p:sp>
        <p:nvSpPr>
          <p:cNvPr id="29" name="Real"/>
          <p:cNvSpPr/>
          <p:nvPr/>
        </p:nvSpPr>
        <p:spPr>
          <a:xfrm>
            <a:off x="6199632" y="4434840"/>
            <a:ext cx="5577840" cy="173736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t"/>
          <a:lstStyle/>
          <a:p>
            <a:pPr algn="l">
              <a:spcAft>
                <a:spcPts val="400"/>
              </a:spcAft>
            </a:pPr>
            <a:r>
              <a:rPr sz="1700" b="1">
                <a:solidFill>
                  <a:srgbClr val="2E8B9A"/>
                </a:solidFill>
              </a:rPr>
              <a:t>Real Windows telemetry</a:t>
            </a:r>
          </a:p>
          <a:p>
            <a:pPr algn="l">
              <a:spcAft>
                <a:spcPts val="400"/>
              </a:spcAft>
            </a:pPr>
            <a:r>
              <a:rPr sz="1600" b="0">
                <a:solidFill>
                  <a:srgbClr val="222222"/>
                </a:solidFill>
              </a:rPr>
              <a:t>→ Live Monitor</a:t>
            </a:r>
          </a:p>
          <a:p>
            <a:pPr algn="l">
              <a:spcAft>
                <a:spcPts val="300"/>
              </a:spcAft>
            </a:pPr>
            <a:r>
              <a:rPr sz="1450" b="0">
                <a:solidFill>
                  <a:srgbClr val="595959"/>
                </a:solidFill>
              </a:rPr>
              <a:t>Genuine process, file, network and registry data, continuously updating.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Modules</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Module Card"/>
          <p:cNvSpPr/>
          <p:nvPr/>
        </p:nvSpPr>
        <p:spPr>
          <a:xfrm>
            <a:off x="411480" y="146304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7" name="Module Number"/>
          <p:cNvSpPr/>
          <p:nvPr/>
        </p:nvSpPr>
        <p:spPr>
          <a:xfrm>
            <a:off x="640080" y="169164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1</a:t>
            </a:r>
          </a:p>
        </p:txBody>
      </p:sp>
      <p:sp>
        <p:nvSpPr>
          <p:cNvPr id="8" name="Module Title"/>
          <p:cNvSpPr/>
          <p:nvPr/>
        </p:nvSpPr>
        <p:spPr>
          <a:xfrm>
            <a:off x="594360" y="251460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dirty="0">
                <a:solidFill>
                  <a:srgbClr val="1F4E79"/>
                </a:solidFill>
              </a:rPr>
              <a:t>Endpoint Monitoring &amp; Canonical Telemetry</a:t>
            </a:r>
          </a:p>
        </p:txBody>
      </p:sp>
      <p:sp>
        <p:nvSpPr>
          <p:cNvPr id="9" name="Module Card"/>
          <p:cNvSpPr/>
          <p:nvPr/>
        </p:nvSpPr>
        <p:spPr>
          <a:xfrm>
            <a:off x="4251960" y="146304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0" name="Module Number"/>
          <p:cNvSpPr/>
          <p:nvPr/>
        </p:nvSpPr>
        <p:spPr>
          <a:xfrm>
            <a:off x="4480560" y="1691640"/>
            <a:ext cx="685800" cy="685800"/>
          </a:xfrm>
          <a:prstGeom prst="ellipse">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2</a:t>
            </a:r>
          </a:p>
        </p:txBody>
      </p:sp>
      <p:sp>
        <p:nvSpPr>
          <p:cNvPr id="11" name="Module Title"/>
          <p:cNvSpPr/>
          <p:nvPr/>
        </p:nvSpPr>
        <p:spPr>
          <a:xfrm>
            <a:off x="4434840" y="251460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a:solidFill>
                  <a:srgbClr val="1F4E79"/>
                </a:solidFill>
              </a:rPr>
              <a:t>Multi-Layer Threat Detection</a:t>
            </a:r>
          </a:p>
        </p:txBody>
      </p:sp>
      <p:sp>
        <p:nvSpPr>
          <p:cNvPr id="12" name="Module Card"/>
          <p:cNvSpPr/>
          <p:nvPr/>
        </p:nvSpPr>
        <p:spPr>
          <a:xfrm>
            <a:off x="8092440" y="146304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3" name="Module Number"/>
          <p:cNvSpPr/>
          <p:nvPr/>
        </p:nvSpPr>
        <p:spPr>
          <a:xfrm>
            <a:off x="8321040" y="169164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3</a:t>
            </a:r>
          </a:p>
        </p:txBody>
      </p:sp>
      <p:sp>
        <p:nvSpPr>
          <p:cNvPr id="14" name="Module Title"/>
          <p:cNvSpPr/>
          <p:nvPr/>
        </p:nvSpPr>
        <p:spPr>
          <a:xfrm>
            <a:off x="8275319" y="251460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a:solidFill>
                  <a:srgbClr val="1F4E79"/>
                </a:solidFill>
              </a:rPr>
              <a:t>Fusion, Correlation &amp; Incident Intelligence</a:t>
            </a:r>
          </a:p>
        </p:txBody>
      </p:sp>
      <p:sp>
        <p:nvSpPr>
          <p:cNvPr id="15" name="Module Card"/>
          <p:cNvSpPr/>
          <p:nvPr/>
        </p:nvSpPr>
        <p:spPr>
          <a:xfrm>
            <a:off x="411480" y="393192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6" name="Module Number"/>
          <p:cNvSpPr/>
          <p:nvPr/>
        </p:nvSpPr>
        <p:spPr>
          <a:xfrm>
            <a:off x="640080" y="4160520"/>
            <a:ext cx="685800" cy="685800"/>
          </a:xfrm>
          <a:prstGeom prst="ellipse">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4</a:t>
            </a:r>
          </a:p>
        </p:txBody>
      </p:sp>
      <p:sp>
        <p:nvSpPr>
          <p:cNvPr id="17" name="Module Title"/>
          <p:cNvSpPr/>
          <p:nvPr/>
        </p:nvSpPr>
        <p:spPr>
          <a:xfrm>
            <a:off x="594360" y="498348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a:solidFill>
                  <a:srgbClr val="1F4E79"/>
                </a:solidFill>
              </a:rPr>
              <a:t>AI Investigation &amp; Risk Assessment</a:t>
            </a:r>
          </a:p>
        </p:txBody>
      </p:sp>
      <p:sp>
        <p:nvSpPr>
          <p:cNvPr id="18" name="Module Card"/>
          <p:cNvSpPr/>
          <p:nvPr/>
        </p:nvSpPr>
        <p:spPr>
          <a:xfrm>
            <a:off x="4251960" y="393192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9" name="Module Number"/>
          <p:cNvSpPr/>
          <p:nvPr/>
        </p:nvSpPr>
        <p:spPr>
          <a:xfrm>
            <a:off x="4480560" y="4160520"/>
            <a:ext cx="685800" cy="685800"/>
          </a:xfrm>
          <a:prstGeom prst="ellipse">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5</a:t>
            </a:r>
          </a:p>
        </p:txBody>
      </p:sp>
      <p:sp>
        <p:nvSpPr>
          <p:cNvPr id="20" name="Module Title"/>
          <p:cNvSpPr/>
          <p:nvPr/>
        </p:nvSpPr>
        <p:spPr>
          <a:xfrm>
            <a:off x="4434840" y="498348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a:solidFill>
                  <a:srgbClr val="1F4E79"/>
                </a:solidFill>
              </a:rPr>
              <a:t>Digital Twin &amp; Safe Response Planning</a:t>
            </a:r>
          </a:p>
        </p:txBody>
      </p:sp>
      <p:sp>
        <p:nvSpPr>
          <p:cNvPr id="21" name="Module Card"/>
          <p:cNvSpPr/>
          <p:nvPr/>
        </p:nvSpPr>
        <p:spPr>
          <a:xfrm>
            <a:off x="8092440" y="3931920"/>
            <a:ext cx="3685032" cy="2286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22" name="Module Number"/>
          <p:cNvSpPr/>
          <p:nvPr/>
        </p:nvSpPr>
        <p:spPr>
          <a:xfrm>
            <a:off x="8321040" y="4160520"/>
            <a:ext cx="685800" cy="685800"/>
          </a:xfrm>
          <a:prstGeom prst="ellipse">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3100" b="1">
                <a:solidFill>
                  <a:srgbClr val="FFFFFF"/>
                </a:solidFill>
              </a:rPr>
              <a:t>6</a:t>
            </a:r>
          </a:p>
        </p:txBody>
      </p:sp>
      <p:sp>
        <p:nvSpPr>
          <p:cNvPr id="23" name="Module Title"/>
          <p:cNvSpPr/>
          <p:nvPr/>
        </p:nvSpPr>
        <p:spPr>
          <a:xfrm>
            <a:off x="8275319" y="4983480"/>
            <a:ext cx="3291840" cy="10972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t"/>
          <a:lstStyle/>
          <a:p>
            <a:pPr algn="l">
              <a:spcAft>
                <a:spcPts val="0"/>
              </a:spcAft>
            </a:pPr>
            <a:r>
              <a:rPr sz="2200" b="1">
                <a:solidFill>
                  <a:srgbClr val="1F4E79"/>
                </a:solidFill>
              </a:rPr>
              <a:t>User Security Interface &amp; Live Monitoring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1: Endpoint Monitoring and Canonical Telemetry</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Collector"/>
          <p:cNvSpPr/>
          <p:nvPr/>
        </p:nvSpPr>
        <p:spPr>
          <a:xfrm>
            <a:off x="411480" y="1371600"/>
            <a:ext cx="3154680" cy="16459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spcAft>
                <a:spcPts val="200"/>
              </a:spcAft>
            </a:pPr>
            <a:r>
              <a:rPr sz="1550" b="1">
                <a:solidFill>
                  <a:srgbClr val="2E8B9A"/>
                </a:solidFill>
              </a:rPr>
              <a:t>Process Monitor</a:t>
            </a:r>
          </a:p>
          <a:p>
            <a:pPr algn="l">
              <a:spcAft>
                <a:spcPts val="0"/>
              </a:spcAft>
            </a:pPr>
            <a:r>
              <a:rPr sz="1300" b="0">
                <a:solidFill>
                  <a:srgbClr val="222222"/>
                </a:solidFill>
              </a:rPr>
              <a:t>• PID / parent PID</a:t>
            </a:r>
          </a:p>
          <a:p>
            <a:pPr algn="l">
              <a:spcAft>
                <a:spcPts val="0"/>
              </a:spcAft>
            </a:pPr>
            <a:r>
              <a:rPr sz="1300" b="0">
                <a:solidFill>
                  <a:srgbClr val="222222"/>
                </a:solidFill>
              </a:rPr>
              <a:t>• executable</a:t>
            </a:r>
          </a:p>
          <a:p>
            <a:pPr algn="l">
              <a:spcAft>
                <a:spcPts val="0"/>
              </a:spcAft>
            </a:pPr>
            <a:r>
              <a:rPr sz="1300" b="0">
                <a:solidFill>
                  <a:srgbClr val="222222"/>
                </a:solidFill>
              </a:rPr>
              <a:t>• command line</a:t>
            </a:r>
          </a:p>
          <a:p>
            <a:pPr algn="l">
              <a:spcAft>
                <a:spcPts val="0"/>
              </a:spcAft>
            </a:pPr>
            <a:r>
              <a:rPr sz="1300" b="0">
                <a:solidFill>
                  <a:srgbClr val="222222"/>
                </a:solidFill>
              </a:rPr>
              <a:t>• process relationships</a:t>
            </a:r>
          </a:p>
          <a:p>
            <a:pPr algn="l">
              <a:spcAft>
                <a:spcPts val="0"/>
              </a:spcAft>
            </a:pPr>
            <a:r>
              <a:rPr sz="1300" b="0">
                <a:solidFill>
                  <a:srgbClr val="222222"/>
                </a:solidFill>
              </a:rPr>
              <a:t>• CPU / memory / threads</a:t>
            </a:r>
          </a:p>
        </p:txBody>
      </p:sp>
      <p:sp>
        <p:nvSpPr>
          <p:cNvPr id="7" name="Collector"/>
          <p:cNvSpPr/>
          <p:nvPr/>
        </p:nvSpPr>
        <p:spPr>
          <a:xfrm>
            <a:off x="3703320" y="1371600"/>
            <a:ext cx="3154680" cy="16459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spcAft>
                <a:spcPts val="200"/>
              </a:spcAft>
            </a:pPr>
            <a:r>
              <a:rPr sz="1550" b="1">
                <a:solidFill>
                  <a:srgbClr val="2E8B9A"/>
                </a:solidFill>
              </a:rPr>
              <a:t>File Monitor</a:t>
            </a:r>
          </a:p>
          <a:p>
            <a:pPr algn="l">
              <a:spcAft>
                <a:spcPts val="0"/>
              </a:spcAft>
            </a:pPr>
            <a:r>
              <a:rPr sz="1300" b="0">
                <a:solidFill>
                  <a:srgbClr val="222222"/>
                </a:solidFill>
              </a:rPr>
              <a:t>• file creation</a:t>
            </a:r>
          </a:p>
          <a:p>
            <a:pPr algn="l">
              <a:spcAft>
                <a:spcPts val="0"/>
              </a:spcAft>
            </a:pPr>
            <a:r>
              <a:rPr sz="1300" b="0">
                <a:solidFill>
                  <a:srgbClr val="222222"/>
                </a:solidFill>
              </a:rPr>
              <a:t>• file modification</a:t>
            </a:r>
          </a:p>
          <a:p>
            <a:pPr algn="l">
              <a:spcAft>
                <a:spcPts val="0"/>
              </a:spcAft>
            </a:pPr>
            <a:r>
              <a:rPr sz="1300" b="0">
                <a:solidFill>
                  <a:srgbClr val="222222"/>
                </a:solidFill>
              </a:rPr>
              <a:t>• suspicious file activity</a:t>
            </a:r>
          </a:p>
        </p:txBody>
      </p:sp>
      <p:sp>
        <p:nvSpPr>
          <p:cNvPr id="8" name="Collector"/>
          <p:cNvSpPr/>
          <p:nvPr/>
        </p:nvSpPr>
        <p:spPr>
          <a:xfrm>
            <a:off x="411480" y="3154680"/>
            <a:ext cx="3154680" cy="16459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spcAft>
                <a:spcPts val="200"/>
              </a:spcAft>
            </a:pPr>
            <a:r>
              <a:rPr sz="1550" b="1">
                <a:solidFill>
                  <a:srgbClr val="2E8B9A"/>
                </a:solidFill>
              </a:rPr>
              <a:t>Network Monitor</a:t>
            </a:r>
          </a:p>
          <a:p>
            <a:pPr algn="l">
              <a:spcAft>
                <a:spcPts val="0"/>
              </a:spcAft>
            </a:pPr>
            <a:r>
              <a:rPr sz="1300" b="0">
                <a:solidFill>
                  <a:srgbClr val="222222"/>
                </a:solidFill>
              </a:rPr>
              <a:t>• process</a:t>
            </a:r>
          </a:p>
          <a:p>
            <a:pPr algn="l">
              <a:spcAft>
                <a:spcPts val="0"/>
              </a:spcAft>
            </a:pPr>
            <a:r>
              <a:rPr sz="1300" b="0">
                <a:solidFill>
                  <a:srgbClr val="222222"/>
                </a:solidFill>
              </a:rPr>
              <a:t>• local / remote IP</a:t>
            </a:r>
          </a:p>
          <a:p>
            <a:pPr algn="l">
              <a:spcAft>
                <a:spcPts val="0"/>
              </a:spcAft>
            </a:pPr>
            <a:r>
              <a:rPr sz="1300" b="0">
                <a:solidFill>
                  <a:srgbClr val="222222"/>
                </a:solidFill>
              </a:rPr>
              <a:t>• ports</a:t>
            </a:r>
          </a:p>
          <a:p>
            <a:pPr algn="l">
              <a:spcAft>
                <a:spcPts val="0"/>
              </a:spcAft>
            </a:pPr>
            <a:r>
              <a:rPr sz="1300" b="0">
                <a:solidFill>
                  <a:srgbClr val="222222"/>
                </a:solidFill>
              </a:rPr>
              <a:t>• protocol</a:t>
            </a:r>
          </a:p>
          <a:p>
            <a:pPr algn="l">
              <a:spcAft>
                <a:spcPts val="0"/>
              </a:spcAft>
            </a:pPr>
            <a:r>
              <a:rPr sz="1300" b="0">
                <a:solidFill>
                  <a:srgbClr val="222222"/>
                </a:solidFill>
              </a:rPr>
              <a:t>• connection state</a:t>
            </a:r>
          </a:p>
        </p:txBody>
      </p:sp>
      <p:sp>
        <p:nvSpPr>
          <p:cNvPr id="9" name="Collector"/>
          <p:cNvSpPr/>
          <p:nvPr/>
        </p:nvSpPr>
        <p:spPr>
          <a:xfrm>
            <a:off x="3703320" y="3154680"/>
            <a:ext cx="3154680" cy="164592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spcAft>
                <a:spcPts val="200"/>
              </a:spcAft>
            </a:pPr>
            <a:r>
              <a:rPr sz="1550" b="1">
                <a:solidFill>
                  <a:srgbClr val="2E8B9A"/>
                </a:solidFill>
              </a:rPr>
              <a:t>Registry Monitor</a:t>
            </a:r>
          </a:p>
          <a:p>
            <a:pPr algn="l">
              <a:spcAft>
                <a:spcPts val="0"/>
              </a:spcAft>
            </a:pPr>
            <a:r>
              <a:rPr sz="1300" b="0">
                <a:solidFill>
                  <a:srgbClr val="222222"/>
                </a:solidFill>
              </a:rPr>
              <a:t>• registry path</a:t>
            </a:r>
          </a:p>
          <a:p>
            <a:pPr algn="l">
              <a:spcAft>
                <a:spcPts val="0"/>
              </a:spcAft>
            </a:pPr>
            <a:r>
              <a:rPr sz="1300" b="0">
                <a:solidFill>
                  <a:srgbClr val="222222"/>
                </a:solidFill>
              </a:rPr>
              <a:t>• operation</a:t>
            </a:r>
          </a:p>
          <a:p>
            <a:pPr algn="l">
              <a:spcAft>
                <a:spcPts val="0"/>
              </a:spcAft>
            </a:pPr>
            <a:r>
              <a:rPr sz="1300" b="0">
                <a:solidFill>
                  <a:srgbClr val="222222"/>
                </a:solidFill>
              </a:rPr>
              <a:t>• value / context</a:t>
            </a:r>
          </a:p>
          <a:p>
            <a:pPr algn="l">
              <a:spcAft>
                <a:spcPts val="0"/>
              </a:spcAft>
            </a:pPr>
            <a:r>
              <a:rPr sz="1300" b="0">
                <a:solidFill>
                  <a:srgbClr val="222222"/>
                </a:solidFill>
              </a:rPr>
              <a:t>• persistence-related changes</a:t>
            </a:r>
          </a:p>
        </p:txBody>
      </p:sp>
      <p:sp>
        <p:nvSpPr>
          <p:cNvPr id="10" name="Canonical Event"/>
          <p:cNvSpPr/>
          <p:nvPr/>
        </p:nvSpPr>
        <p:spPr>
          <a:xfrm>
            <a:off x="7178040" y="1371600"/>
            <a:ext cx="4599432" cy="342900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200"/>
              </a:spcAft>
            </a:pPr>
            <a:r>
              <a:rPr sz="1700" b="1" dirty="0">
                <a:solidFill>
                  <a:srgbClr val="1F4E79"/>
                </a:solidFill>
              </a:rPr>
              <a:t>Canonical event</a:t>
            </a:r>
          </a:p>
          <a:p>
            <a:pPr algn="l">
              <a:spcAft>
                <a:spcPts val="600"/>
              </a:spcAft>
            </a:pPr>
            <a:r>
              <a:rPr sz="1450" b="1" dirty="0">
                <a:solidFill>
                  <a:srgbClr val="2E8B9A"/>
                </a:solidFill>
              </a:rPr>
              <a:t>Collector event  →  SecurityEvent</a:t>
            </a:r>
          </a:p>
          <a:p>
            <a:pPr algn="l">
              <a:spcAft>
                <a:spcPts val="200"/>
              </a:spcAft>
            </a:pPr>
            <a:r>
              <a:rPr sz="1400" b="0" dirty="0">
                <a:solidFill>
                  <a:srgbClr val="222222"/>
                </a:solidFill>
                <a:latin typeface="Consolas"/>
              </a:rPr>
              <a:t>event_id  |  timestamp  |  device_id</a:t>
            </a:r>
          </a:p>
          <a:p>
            <a:pPr algn="l">
              <a:spcAft>
                <a:spcPts val="800"/>
              </a:spcAft>
            </a:pPr>
            <a:r>
              <a:rPr sz="1400" b="0" dirty="0">
                <a:solidFill>
                  <a:srgbClr val="222222"/>
                </a:solidFill>
                <a:latin typeface="Consolas"/>
              </a:rPr>
              <a:t>event_type  |  severity  |  source</a:t>
            </a:r>
          </a:p>
          <a:p>
            <a:pPr algn="l">
              <a:spcAft>
                <a:spcPts val="200"/>
              </a:spcAft>
            </a:pPr>
            <a:r>
              <a:rPr sz="1400" b="0" dirty="0">
                <a:solidFill>
                  <a:srgbClr val="222222"/>
                </a:solidFill>
                <a:latin typeface="Consolas"/>
              </a:rPr>
              <a:t>process {}</a:t>
            </a:r>
          </a:p>
          <a:p>
            <a:pPr algn="l">
              <a:spcAft>
                <a:spcPts val="200"/>
              </a:spcAft>
            </a:pPr>
            <a:r>
              <a:rPr sz="1400" b="0" dirty="0">
                <a:solidFill>
                  <a:srgbClr val="222222"/>
                </a:solidFill>
                <a:latin typeface="Consolas"/>
              </a:rPr>
              <a:t>file {}</a:t>
            </a:r>
          </a:p>
          <a:p>
            <a:pPr algn="l">
              <a:spcAft>
                <a:spcPts val="200"/>
              </a:spcAft>
            </a:pPr>
            <a:r>
              <a:rPr sz="1400" b="0" dirty="0">
                <a:solidFill>
                  <a:srgbClr val="222222"/>
                </a:solidFill>
                <a:latin typeface="Consolas"/>
              </a:rPr>
              <a:t>network {}</a:t>
            </a:r>
          </a:p>
          <a:p>
            <a:pPr algn="l">
              <a:spcAft>
                <a:spcPts val="200"/>
              </a:spcAft>
            </a:pPr>
            <a:r>
              <a:rPr sz="1400" b="0" dirty="0">
                <a:solidFill>
                  <a:srgbClr val="222222"/>
                </a:solidFill>
                <a:latin typeface="Consolas"/>
              </a:rPr>
              <a:t>registry {}</a:t>
            </a:r>
          </a:p>
          <a:p>
            <a:pPr algn="l">
              <a:spcAft>
                <a:spcPts val="0"/>
              </a:spcAft>
            </a:pPr>
            <a:r>
              <a:rPr sz="1400" b="0" dirty="0">
                <a:solidFill>
                  <a:srgbClr val="222222"/>
                </a:solidFill>
                <a:latin typeface="Consolas"/>
              </a:rPr>
              <a:t>metadata {}</a:t>
            </a:r>
          </a:p>
        </p:txBody>
      </p:sp>
      <p:sp>
        <p:nvSpPr>
          <p:cNvPr id="11" name="Flow"/>
          <p:cNvSpPr/>
          <p:nvPr/>
        </p:nvSpPr>
        <p:spPr>
          <a:xfrm>
            <a:off x="411480" y="5029200"/>
            <a:ext cx="2057400" cy="73152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1500" b="1">
                <a:solidFill>
                  <a:srgbClr val="FFFFFF"/>
                </a:solidFill>
              </a:rPr>
              <a:t>Real Windows activity</a:t>
            </a:r>
          </a:p>
        </p:txBody>
      </p:sp>
      <p:cxnSp>
        <p:nvCxnSpPr>
          <p:cNvPr id="12" name="Arrow"/>
          <p:cNvCxnSpPr/>
          <p:nvPr/>
        </p:nvCxnSpPr>
        <p:spPr>
          <a:xfrm>
            <a:off x="2478024" y="5394960"/>
            <a:ext cx="2514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Flow"/>
          <p:cNvSpPr/>
          <p:nvPr/>
        </p:nvSpPr>
        <p:spPr>
          <a:xfrm>
            <a:off x="2738628" y="5029200"/>
            <a:ext cx="2057400" cy="73152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1500" b="1">
                <a:solidFill>
                  <a:srgbClr val="FFFFFF"/>
                </a:solidFill>
              </a:rPr>
              <a:t>Collectors</a:t>
            </a:r>
          </a:p>
        </p:txBody>
      </p:sp>
      <p:cxnSp>
        <p:nvCxnSpPr>
          <p:cNvPr id="14" name="Arrow"/>
          <p:cNvCxnSpPr/>
          <p:nvPr/>
        </p:nvCxnSpPr>
        <p:spPr>
          <a:xfrm>
            <a:off x="4805172" y="5394960"/>
            <a:ext cx="2514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low"/>
          <p:cNvSpPr/>
          <p:nvPr/>
        </p:nvSpPr>
        <p:spPr>
          <a:xfrm>
            <a:off x="5065776" y="5029200"/>
            <a:ext cx="2057400" cy="73152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1500" b="1" dirty="0">
                <a:solidFill>
                  <a:srgbClr val="FFFFFF"/>
                </a:solidFill>
              </a:rPr>
              <a:t>Canonical event</a:t>
            </a:r>
          </a:p>
        </p:txBody>
      </p:sp>
      <p:cxnSp>
        <p:nvCxnSpPr>
          <p:cNvPr id="16" name="Arrow"/>
          <p:cNvCxnSpPr/>
          <p:nvPr/>
        </p:nvCxnSpPr>
        <p:spPr>
          <a:xfrm>
            <a:off x="7132320" y="5394960"/>
            <a:ext cx="251460"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Flow"/>
          <p:cNvSpPr/>
          <p:nvPr/>
        </p:nvSpPr>
        <p:spPr>
          <a:xfrm>
            <a:off x="7392923" y="5029200"/>
            <a:ext cx="2057400" cy="73152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1500" b="1">
                <a:solidFill>
                  <a:srgbClr val="FFFFFF"/>
                </a:solidFill>
              </a:rPr>
              <a:t>Runtime telemetry</a:t>
            </a:r>
          </a:p>
        </p:txBody>
      </p:sp>
      <p:cxnSp>
        <p:nvCxnSpPr>
          <p:cNvPr id="18" name="Arrow"/>
          <p:cNvCxnSpPr/>
          <p:nvPr/>
        </p:nvCxnSpPr>
        <p:spPr>
          <a:xfrm>
            <a:off x="9459467" y="5394960"/>
            <a:ext cx="251461"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Flow"/>
          <p:cNvSpPr/>
          <p:nvPr/>
        </p:nvSpPr>
        <p:spPr>
          <a:xfrm>
            <a:off x="9720072" y="5029200"/>
            <a:ext cx="2057400" cy="73152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spcAft>
                <a:spcPts val="0"/>
              </a:spcAft>
            </a:pPr>
            <a:r>
              <a:rPr sz="1500" b="1">
                <a:solidFill>
                  <a:srgbClr val="FFFFFF"/>
                </a:solidFill>
              </a:rPr>
              <a:t>Live Monitor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2: Multi-Layer Threat Detection</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graphicFrame>
        <p:nvGraphicFramePr>
          <p:cNvPr id="2" name="Table 11">
            <a:extLst>
              <a:ext uri="{FF2B5EF4-FFF2-40B4-BE49-F238E27FC236}">
                <a16:creationId xmlns:a16="http://schemas.microsoft.com/office/drawing/2014/main" id="{F08C5429-6B6D-BBD6-DB97-F3C99CF5D9FC}"/>
              </a:ext>
            </a:extLst>
          </p:cNvPr>
          <p:cNvGraphicFramePr>
            <a:graphicFrameLocks noGrp="1"/>
          </p:cNvGraphicFramePr>
          <p:nvPr/>
        </p:nvGraphicFramePr>
        <p:xfrm>
          <a:off x="411480" y="1371600"/>
          <a:ext cx="11365992" cy="4224528"/>
        </p:xfrm>
        <a:graphic>
          <a:graphicData uri="http://schemas.openxmlformats.org/drawingml/2006/table">
            <a:tbl>
              <a:tblPr firstRow="1"/>
              <a:tblGrid>
                <a:gridCol w="32004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4599432">
                  <a:extLst>
                    <a:ext uri="{9D8B030D-6E8A-4147-A177-3AD203B41FA5}">
                      <a16:colId xmlns:a16="http://schemas.microsoft.com/office/drawing/2014/main" val="20002"/>
                    </a:ext>
                  </a:extLst>
                </a:gridCol>
              </a:tblGrid>
              <a:tr h="352044">
                <a:tc>
                  <a:txBody>
                    <a:bodyPr/>
                    <a:lstStyle/>
                    <a:p>
                      <a:pPr marL="0" indent="0" algn="l">
                        <a:spcBef>
                          <a:spcPts val="0"/>
                        </a:spcBef>
                        <a:spcAft>
                          <a:spcPts val="0"/>
                        </a:spcAft>
                        <a:buNone/>
                      </a:pPr>
                      <a:r>
                        <a:rPr lang="en-US" sz="1400" b="1" i="0" dirty="0">
                          <a:solidFill>
                            <a:srgbClr val="FFFFFF"/>
                          </a:solidFill>
                          <a:latin typeface="+mn-lt"/>
                          <a:cs typeface="Calibri"/>
                        </a:rPr>
                        <a:t>Detection component</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1F4E79"/>
                    </a:solidFill>
                  </a:tcPr>
                </a:tc>
                <a:tc>
                  <a:txBody>
                    <a:bodyPr/>
                    <a:lstStyle/>
                    <a:p>
                      <a:pPr marL="0" indent="0" algn="l">
                        <a:spcBef>
                          <a:spcPts val="0"/>
                        </a:spcBef>
                        <a:spcAft>
                          <a:spcPts val="0"/>
                        </a:spcAft>
                        <a:buNone/>
                      </a:pPr>
                      <a:r>
                        <a:rPr lang="en-US" sz="1400" b="1" i="0" dirty="0">
                          <a:solidFill>
                            <a:srgbClr val="FFFFFF"/>
                          </a:solidFill>
                          <a:latin typeface="+mn-lt"/>
                          <a:cs typeface="Calibri"/>
                        </a:rPr>
                        <a:t>Training approach</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1F4E79"/>
                    </a:solidFill>
                  </a:tcPr>
                </a:tc>
                <a:tc>
                  <a:txBody>
                    <a:bodyPr/>
                    <a:lstStyle/>
                    <a:p>
                      <a:pPr marL="0" indent="0" algn="l">
                        <a:spcBef>
                          <a:spcPts val="0"/>
                        </a:spcBef>
                        <a:spcAft>
                          <a:spcPts val="0"/>
                        </a:spcAft>
                        <a:buNone/>
                      </a:pPr>
                      <a:r>
                        <a:rPr lang="en-US" sz="1400" b="1" i="0" dirty="0">
                          <a:solidFill>
                            <a:srgbClr val="FFFFFF"/>
                          </a:solidFill>
                          <a:latin typeface="+mn-lt"/>
                          <a:cs typeface="Calibri"/>
                        </a:rPr>
                        <a:t>Feature representation</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1F4E79"/>
                    </a:solidFill>
                  </a:tcPr>
                </a:tc>
                <a:extLst>
                  <a:ext uri="{0D108BD9-81ED-4DB2-BD59-A6C34878D82A}">
                    <a16:rowId xmlns:a16="http://schemas.microsoft.com/office/drawing/2014/main" val="10000"/>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Behavioral process rules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No training</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Commands, executables, process relationships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extLst>
                  <a:ext uri="{0D108BD9-81ED-4DB2-BD59-A6C34878D82A}">
                    <a16:rowId xmlns:a16="http://schemas.microsoft.com/office/drawing/2014/main" val="10001"/>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Statistical process detector</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Baseline / statistical logic</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Process activity patterns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extLst>
                  <a:ext uri="{0D108BD9-81ED-4DB2-BD59-A6C34878D82A}">
                    <a16:rowId xmlns:a16="http://schemas.microsoft.com/office/drawing/2014/main" val="10002"/>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Isolation Forest</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Unsupervised ML</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19 behavioral process features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3"/>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Autoencoder v2</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Self-supervised neural network</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Same 19 process features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4"/>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Temporal Transformer</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Sequence-based deep learning</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Ordered process observations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5"/>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Graph AI (PyTorch)</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Graph anomaly learning</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Process nodes, edges, structural attributes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6"/>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Malware RF / XGBoost</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Supervised ML</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2,381 EMBER-style PE features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7"/>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CICIDS2017 Random Forest</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Supervised classification</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tc>
                  <a:txBody>
                    <a:bodyPr/>
                    <a:lstStyle/>
                    <a:p>
                      <a:pPr marL="0" indent="0" algn="l">
                        <a:spcBef>
                          <a:spcPts val="0"/>
                        </a:spcBef>
                        <a:spcAft>
                          <a:spcPts val="0"/>
                        </a:spcAft>
                        <a:buNone/>
                      </a:pPr>
                      <a:r>
                        <a:rPr lang="en-US" sz="1400" b="0" i="0" dirty="0">
                          <a:solidFill>
                            <a:srgbClr val="262626"/>
                          </a:solidFill>
                          <a:latin typeface="+mn-lt"/>
                          <a:cs typeface="Calibri"/>
                        </a:rPr>
                        <a:t>Network-flow statistics (research model)</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EAF3FB"/>
                    </a:solidFill>
                  </a:tcPr>
                </a:tc>
                <a:extLst>
                  <a:ext uri="{0D108BD9-81ED-4DB2-BD59-A6C34878D82A}">
                    <a16:rowId xmlns:a16="http://schemas.microsoft.com/office/drawing/2014/main" val="10008"/>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Network behavioral rules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No training</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Connection rates, ports, time windows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extLst>
                  <a:ext uri="{0D108BD9-81ED-4DB2-BD59-A6C34878D82A}">
                    <a16:rowId xmlns:a16="http://schemas.microsoft.com/office/drawing/2014/main" val="10009"/>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File / ransomware detector</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Rules + behavioral analysis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File activity, modification sequences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extLst>
                  <a:ext uri="{0D108BD9-81ED-4DB2-BD59-A6C34878D82A}">
                    <a16:rowId xmlns:a16="http://schemas.microsoft.com/office/drawing/2014/main" val="10010"/>
                  </a:ext>
                </a:extLst>
              </a:tr>
              <a:tr h="352044">
                <a:tc>
                  <a:txBody>
                    <a:bodyPr/>
                    <a:lstStyle/>
                    <a:p>
                      <a:pPr marL="0" indent="0" algn="l">
                        <a:spcBef>
                          <a:spcPts val="0"/>
                        </a:spcBef>
                        <a:spcAft>
                          <a:spcPts val="0"/>
                        </a:spcAft>
                        <a:buNone/>
                      </a:pPr>
                      <a:r>
                        <a:rPr lang="en-US" sz="1400" b="1" i="0" dirty="0">
                          <a:solidFill>
                            <a:srgbClr val="262626"/>
                          </a:solidFill>
                          <a:latin typeface="+mn-lt"/>
                          <a:cs typeface="Calibri"/>
                        </a:rPr>
                        <a:t>Registry detector</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Rules</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tc>
                  <a:txBody>
                    <a:bodyPr/>
                    <a:lstStyle/>
                    <a:p>
                      <a:pPr marL="0" indent="0" algn="l">
                        <a:spcBef>
                          <a:spcPts val="0"/>
                        </a:spcBef>
                        <a:spcAft>
                          <a:spcPts val="0"/>
                        </a:spcAft>
                        <a:buNone/>
                      </a:pPr>
                      <a:r>
                        <a:rPr lang="en-US" sz="1400" b="0" i="0" dirty="0">
                          <a:solidFill>
                            <a:srgbClr val="262626"/>
                          </a:solidFill>
                          <a:latin typeface="+mn-lt"/>
                          <a:cs typeface="Calibri"/>
                        </a:rPr>
                        <a:t>Path, operation, value, context</a:t>
                      </a:r>
                    </a:p>
                  </a:txBody>
                  <a:tcPr marR="73152" marT="27432" marB="27432" anchor="ctr">
                    <a:lnL w="9525">
                      <a:solidFill>
                        <a:srgbClr val="BFD3E6"/>
                      </a:solidFill>
                    </a:lnL>
                    <a:lnR w="9525">
                      <a:solidFill>
                        <a:srgbClr val="BFD3E6"/>
                      </a:solidFill>
                    </a:lnR>
                    <a:lnT w="9525">
                      <a:solidFill>
                        <a:srgbClr val="BFD3E6"/>
                      </a:solidFill>
                    </a:lnT>
                    <a:lnB w="9525">
                      <a:solidFill>
                        <a:srgbClr val="BFD3E6"/>
                      </a:solidFill>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3: Fusion, Correlation and Incident Intelligence</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Fusion Card"/>
          <p:cNvSpPr/>
          <p:nvPr/>
        </p:nvSpPr>
        <p:spPr>
          <a:xfrm>
            <a:off x="411480" y="1371600"/>
            <a:ext cx="5669280" cy="489204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7" name="Fusion Title"/>
          <p:cNvSpPr/>
          <p:nvPr/>
        </p:nvSpPr>
        <p:spPr>
          <a:xfrm>
            <a:off x="594360" y="1444752"/>
            <a:ext cx="530352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300"/>
              </a:spcAft>
            </a:pPr>
            <a:r>
              <a:rPr sz="1800" b="1">
                <a:solidFill>
                  <a:srgbClr val="1F4E79"/>
                </a:solidFill>
              </a:rPr>
              <a:t>Fusion: Process Threat Fusion v3</a:t>
            </a:r>
          </a:p>
        </p:txBody>
      </p:sp>
      <p:sp>
        <p:nvSpPr>
          <p:cNvPr id="8" name="Weight Label"/>
          <p:cNvSpPr/>
          <p:nvPr/>
        </p:nvSpPr>
        <p:spPr>
          <a:xfrm>
            <a:off x="594360" y="1920240"/>
            <a:ext cx="192024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Behavioral Rules</a:t>
            </a:r>
          </a:p>
        </p:txBody>
      </p:sp>
      <p:sp>
        <p:nvSpPr>
          <p:cNvPr id="9" name="Weight Bar"/>
          <p:cNvSpPr/>
          <p:nvPr/>
        </p:nvSpPr>
        <p:spPr>
          <a:xfrm>
            <a:off x="2560320" y="1956816"/>
            <a:ext cx="2743200" cy="29260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0" name="Weight Value"/>
          <p:cNvSpPr/>
          <p:nvPr/>
        </p:nvSpPr>
        <p:spPr>
          <a:xfrm>
            <a:off x="5349240" y="1920240"/>
            <a:ext cx="64008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35%</a:t>
            </a:r>
          </a:p>
        </p:txBody>
      </p:sp>
      <p:sp>
        <p:nvSpPr>
          <p:cNvPr id="11" name="Weight Label"/>
          <p:cNvSpPr/>
          <p:nvPr/>
        </p:nvSpPr>
        <p:spPr>
          <a:xfrm>
            <a:off x="594360" y="2423160"/>
            <a:ext cx="192024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Statistical Evidence</a:t>
            </a:r>
          </a:p>
        </p:txBody>
      </p:sp>
      <p:sp>
        <p:nvSpPr>
          <p:cNvPr id="12" name="Weight Bar"/>
          <p:cNvSpPr/>
          <p:nvPr/>
        </p:nvSpPr>
        <p:spPr>
          <a:xfrm>
            <a:off x="2560320" y="2459736"/>
            <a:ext cx="1175657" cy="292608"/>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3" name="Weight Value"/>
          <p:cNvSpPr/>
          <p:nvPr/>
        </p:nvSpPr>
        <p:spPr>
          <a:xfrm>
            <a:off x="3781697" y="2423160"/>
            <a:ext cx="64008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15%</a:t>
            </a:r>
          </a:p>
        </p:txBody>
      </p:sp>
      <p:sp>
        <p:nvSpPr>
          <p:cNvPr id="14" name="Weight Label"/>
          <p:cNvSpPr/>
          <p:nvPr/>
        </p:nvSpPr>
        <p:spPr>
          <a:xfrm>
            <a:off x="594360" y="2926080"/>
            <a:ext cx="192024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IF + Autoencoder</a:t>
            </a:r>
          </a:p>
        </p:txBody>
      </p:sp>
      <p:sp>
        <p:nvSpPr>
          <p:cNvPr id="15" name="Weight Bar"/>
          <p:cNvSpPr/>
          <p:nvPr/>
        </p:nvSpPr>
        <p:spPr>
          <a:xfrm>
            <a:off x="2560320" y="2962656"/>
            <a:ext cx="1959428" cy="29260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6" name="Weight Value"/>
          <p:cNvSpPr/>
          <p:nvPr/>
        </p:nvSpPr>
        <p:spPr>
          <a:xfrm>
            <a:off x="4565468" y="2926080"/>
            <a:ext cx="64008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25%</a:t>
            </a:r>
          </a:p>
        </p:txBody>
      </p:sp>
      <p:sp>
        <p:nvSpPr>
          <p:cNvPr id="17" name="Weight Label"/>
          <p:cNvSpPr/>
          <p:nvPr/>
        </p:nvSpPr>
        <p:spPr>
          <a:xfrm>
            <a:off x="594360" y="3429000"/>
            <a:ext cx="192024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Temporal Transformer</a:t>
            </a:r>
          </a:p>
        </p:txBody>
      </p:sp>
      <p:sp>
        <p:nvSpPr>
          <p:cNvPr id="18" name="Weight Bar"/>
          <p:cNvSpPr/>
          <p:nvPr/>
        </p:nvSpPr>
        <p:spPr>
          <a:xfrm>
            <a:off x="2560320" y="3465576"/>
            <a:ext cx="1959428" cy="292608"/>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19" name="Weight Value"/>
          <p:cNvSpPr/>
          <p:nvPr/>
        </p:nvSpPr>
        <p:spPr>
          <a:xfrm>
            <a:off x="4565468" y="3429000"/>
            <a:ext cx="64008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25%</a:t>
            </a:r>
          </a:p>
        </p:txBody>
      </p:sp>
      <p:sp>
        <p:nvSpPr>
          <p:cNvPr id="20" name="Formula"/>
          <p:cNvSpPr/>
          <p:nvPr/>
        </p:nvSpPr>
        <p:spPr>
          <a:xfrm>
            <a:off x="594360" y="4023360"/>
            <a:ext cx="5303520" cy="4572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700" b="1">
                <a:solidFill>
                  <a:srgbClr val="1F4E79"/>
                </a:solidFill>
              </a:rPr>
              <a:t>S = 0.35·R + 0.15·B + 0.25·A + 0.25·T</a:t>
            </a:r>
          </a:p>
        </p:txBody>
      </p:sp>
      <p:sp>
        <p:nvSpPr>
          <p:cNvPr id="21" name="Fusion Note"/>
          <p:cNvSpPr/>
          <p:nvPr/>
        </p:nvSpPr>
        <p:spPr>
          <a:xfrm>
            <a:off x="594360" y="4617720"/>
            <a:ext cx="5303520" cy="45720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300"/>
              </a:spcAft>
            </a:pPr>
            <a:r>
              <a:rPr sz="1350" b="0">
                <a:solidFill>
                  <a:srgbClr val="595959"/>
                </a:solidFill>
              </a:rPr>
              <a:t>The fusion score is an evidence score, not a calibrated malware probability.</a:t>
            </a:r>
          </a:p>
        </p:txBody>
      </p:sp>
      <p:sp>
        <p:nvSpPr>
          <p:cNvPr id="23" name="Correlation Card"/>
          <p:cNvSpPr/>
          <p:nvPr/>
        </p:nvSpPr>
        <p:spPr>
          <a:xfrm>
            <a:off x="6263640" y="1371600"/>
            <a:ext cx="5513832" cy="489204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24" name="Corr Title"/>
          <p:cNvSpPr/>
          <p:nvPr/>
        </p:nvSpPr>
        <p:spPr>
          <a:xfrm>
            <a:off x="6446520" y="1444752"/>
            <a:ext cx="512064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300"/>
              </a:spcAft>
            </a:pPr>
            <a:r>
              <a:rPr sz="1800" b="1">
                <a:solidFill>
                  <a:srgbClr val="1F4E79"/>
                </a:solidFill>
              </a:rPr>
              <a:t>Correlation: one attack chain</a:t>
            </a:r>
          </a:p>
        </p:txBody>
      </p:sp>
      <p:sp>
        <p:nvSpPr>
          <p:cNvPr id="25" name="Chain"/>
          <p:cNvSpPr/>
          <p:nvPr/>
        </p:nvSpPr>
        <p:spPr>
          <a:xfrm>
            <a:off x="6446520" y="1920240"/>
            <a:ext cx="283464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spcAft>
                <a:spcPts val="0"/>
              </a:spcAft>
            </a:pPr>
            <a:r>
              <a:rPr sz="1300" b="1">
                <a:solidFill>
                  <a:srgbClr val="C55A11"/>
                </a:solidFill>
              </a:rPr>
              <a:t>10:00:01  </a:t>
            </a:r>
            <a:r>
              <a:rPr sz="1300" b="1">
                <a:solidFill>
                  <a:srgbClr val="1F4E79"/>
                </a:solidFill>
              </a:rPr>
              <a:t>Encoded PowerShell</a:t>
            </a:r>
          </a:p>
        </p:txBody>
      </p:sp>
      <p:cxnSp>
        <p:nvCxnSpPr>
          <p:cNvPr id="26" name="Arrow"/>
          <p:cNvCxnSpPr/>
          <p:nvPr/>
        </p:nvCxnSpPr>
        <p:spPr>
          <a:xfrm>
            <a:off x="7863840" y="2496312"/>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Chain"/>
          <p:cNvSpPr/>
          <p:nvPr/>
        </p:nvSpPr>
        <p:spPr>
          <a:xfrm>
            <a:off x="6446520" y="2670048"/>
            <a:ext cx="283464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spcAft>
                <a:spcPts val="0"/>
              </a:spcAft>
            </a:pPr>
            <a:r>
              <a:rPr sz="1300" b="1">
                <a:solidFill>
                  <a:srgbClr val="C55A11"/>
                </a:solidFill>
              </a:rPr>
              <a:t>10:00:03  </a:t>
            </a:r>
            <a:r>
              <a:rPr sz="1300" b="1">
                <a:solidFill>
                  <a:srgbClr val="1F4E79"/>
                </a:solidFill>
              </a:rPr>
              <a:t>Abnormal process behavior</a:t>
            </a:r>
          </a:p>
        </p:txBody>
      </p:sp>
      <p:cxnSp>
        <p:nvCxnSpPr>
          <p:cNvPr id="28" name="Arrow"/>
          <p:cNvCxnSpPr/>
          <p:nvPr/>
        </p:nvCxnSpPr>
        <p:spPr>
          <a:xfrm>
            <a:off x="7863840" y="3246120"/>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Chain"/>
          <p:cNvSpPr/>
          <p:nvPr/>
        </p:nvSpPr>
        <p:spPr>
          <a:xfrm>
            <a:off x="6446520" y="3419856"/>
            <a:ext cx="283464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spcAft>
                <a:spcPts val="0"/>
              </a:spcAft>
            </a:pPr>
            <a:r>
              <a:rPr sz="1300" b="1">
                <a:solidFill>
                  <a:srgbClr val="C55A11"/>
                </a:solidFill>
              </a:rPr>
              <a:t>10:00:07  </a:t>
            </a:r>
            <a:r>
              <a:rPr sz="1300" b="1">
                <a:solidFill>
                  <a:srgbClr val="1F4E79"/>
                </a:solidFill>
              </a:rPr>
              <a:t>Suspicious network activity</a:t>
            </a:r>
          </a:p>
        </p:txBody>
      </p:sp>
      <p:cxnSp>
        <p:nvCxnSpPr>
          <p:cNvPr id="30" name="Arrow"/>
          <p:cNvCxnSpPr/>
          <p:nvPr/>
        </p:nvCxnSpPr>
        <p:spPr>
          <a:xfrm>
            <a:off x="7863840" y="3995928"/>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Chain"/>
          <p:cNvSpPr/>
          <p:nvPr/>
        </p:nvSpPr>
        <p:spPr>
          <a:xfrm>
            <a:off x="6446520" y="4169664"/>
            <a:ext cx="2834640" cy="566928"/>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l">
              <a:spcAft>
                <a:spcPts val="0"/>
              </a:spcAft>
            </a:pPr>
            <a:r>
              <a:rPr sz="1300" b="1">
                <a:solidFill>
                  <a:srgbClr val="C55A11"/>
                </a:solidFill>
              </a:rPr>
              <a:t>10:00:10  </a:t>
            </a:r>
            <a:r>
              <a:rPr sz="1300" b="1">
                <a:solidFill>
                  <a:srgbClr val="1F4E79"/>
                </a:solidFill>
              </a:rPr>
              <a:t>Persistence registry change</a:t>
            </a:r>
          </a:p>
        </p:txBody>
      </p:sp>
      <p:cxnSp>
        <p:nvCxnSpPr>
          <p:cNvPr id="32" name="Arrow"/>
          <p:cNvCxnSpPr/>
          <p:nvPr/>
        </p:nvCxnSpPr>
        <p:spPr>
          <a:xfrm>
            <a:off x="7863840" y="4919472"/>
            <a:ext cx="0" cy="155448"/>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Incident"/>
          <p:cNvSpPr/>
          <p:nvPr/>
        </p:nvSpPr>
        <p:spPr>
          <a:xfrm>
            <a:off x="6446520" y="5093208"/>
            <a:ext cx="2834640" cy="5943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400" b="1">
                <a:solidFill>
                  <a:srgbClr val="FFFFFF"/>
                </a:solidFill>
              </a:rPr>
              <a:t>ONE CORRELATED INCIDENT</a:t>
            </a:r>
          </a:p>
        </p:txBody>
      </p:sp>
      <p:sp>
        <p:nvSpPr>
          <p:cNvPr id="34" name="Incident Fields"/>
          <p:cNvSpPr/>
          <p:nvPr/>
        </p:nvSpPr>
        <p:spPr>
          <a:xfrm>
            <a:off x="9464040" y="1920240"/>
            <a:ext cx="2194560" cy="3749039"/>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spcAft>
                <a:spcPts val="300"/>
              </a:spcAft>
            </a:pPr>
            <a:r>
              <a:rPr sz="1400" b="1">
                <a:solidFill>
                  <a:srgbClr val="2E8B9A"/>
                </a:solidFill>
              </a:rPr>
              <a:t>Incident contains</a:t>
            </a:r>
          </a:p>
          <a:p>
            <a:pPr algn="l">
              <a:spcAft>
                <a:spcPts val="100"/>
              </a:spcAft>
            </a:pPr>
            <a:r>
              <a:rPr sz="1300" b="0">
                <a:solidFill>
                  <a:srgbClr val="222222"/>
                </a:solidFill>
              </a:rPr>
              <a:t>• Incident ID</a:t>
            </a:r>
          </a:p>
          <a:p>
            <a:pPr algn="l">
              <a:spcAft>
                <a:spcPts val="100"/>
              </a:spcAft>
            </a:pPr>
            <a:r>
              <a:rPr sz="1300" b="0">
                <a:solidFill>
                  <a:srgbClr val="222222"/>
                </a:solidFill>
              </a:rPr>
              <a:t>• Timestamps</a:t>
            </a:r>
          </a:p>
          <a:p>
            <a:pPr algn="l">
              <a:spcAft>
                <a:spcPts val="100"/>
              </a:spcAft>
            </a:pPr>
            <a:r>
              <a:rPr sz="1300" b="0">
                <a:solidFill>
                  <a:srgbClr val="222222"/>
                </a:solidFill>
              </a:rPr>
              <a:t>• Related event IDs</a:t>
            </a:r>
          </a:p>
          <a:p>
            <a:pPr algn="l">
              <a:spcAft>
                <a:spcPts val="100"/>
              </a:spcAft>
            </a:pPr>
            <a:r>
              <a:rPr sz="1300" b="0">
                <a:solidFill>
                  <a:srgbClr val="222222"/>
                </a:solidFill>
              </a:rPr>
              <a:t>• Categories</a:t>
            </a:r>
          </a:p>
          <a:p>
            <a:pPr algn="l">
              <a:spcAft>
                <a:spcPts val="100"/>
              </a:spcAft>
            </a:pPr>
            <a:r>
              <a:rPr sz="1300" b="0">
                <a:solidFill>
                  <a:srgbClr val="222222"/>
                </a:solidFill>
              </a:rPr>
              <a:t>• Severity</a:t>
            </a:r>
          </a:p>
          <a:p>
            <a:pPr algn="l">
              <a:spcAft>
                <a:spcPts val="100"/>
              </a:spcAft>
            </a:pPr>
            <a:r>
              <a:rPr sz="1300" b="0">
                <a:solidFill>
                  <a:srgbClr val="222222"/>
                </a:solidFill>
              </a:rPr>
              <a:t>• Device / process</a:t>
            </a:r>
          </a:p>
          <a:p>
            <a:pPr algn="l">
              <a:spcAft>
                <a:spcPts val="100"/>
              </a:spcAft>
            </a:pPr>
            <a:r>
              <a:rPr sz="1300" b="0">
                <a:solidFill>
                  <a:srgbClr val="222222"/>
                </a:solidFill>
              </a:rPr>
              <a:t>• Evidence</a:t>
            </a:r>
          </a:p>
          <a:p>
            <a:pPr algn="l">
              <a:spcAft>
                <a:spcPts val="100"/>
              </a:spcAft>
            </a:pPr>
            <a:r>
              <a:rPr sz="1300" b="0">
                <a:solidFill>
                  <a:srgbClr val="222222"/>
                </a:solidFill>
              </a:rPr>
              <a:t>• Investigation status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4: AI Investigation and Risk Assessment</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Stage"/>
          <p:cNvSpPr/>
          <p:nvPr/>
        </p:nvSpPr>
        <p:spPr>
          <a:xfrm>
            <a:off x="411480" y="1371600"/>
            <a:ext cx="1737360" cy="64008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dirty="0">
                <a:solidFill>
                  <a:srgbClr val="FFFFFF"/>
                </a:solidFill>
              </a:rPr>
              <a:t>Canonical Threat</a:t>
            </a:r>
          </a:p>
        </p:txBody>
      </p:sp>
      <p:cxnSp>
        <p:nvCxnSpPr>
          <p:cNvPr id="7" name="Arrow"/>
          <p:cNvCxnSpPr/>
          <p:nvPr/>
        </p:nvCxnSpPr>
        <p:spPr>
          <a:xfrm>
            <a:off x="2157984" y="1691640"/>
            <a:ext cx="17007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tage"/>
          <p:cNvSpPr/>
          <p:nvPr/>
        </p:nvSpPr>
        <p:spPr>
          <a:xfrm>
            <a:off x="2337206" y="1371600"/>
            <a:ext cx="1737360" cy="64008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a:solidFill>
                  <a:srgbClr val="FFFFFF"/>
                </a:solidFill>
              </a:rPr>
              <a:t>Evidence Context Builder</a:t>
            </a:r>
          </a:p>
        </p:txBody>
      </p:sp>
      <p:cxnSp>
        <p:nvCxnSpPr>
          <p:cNvPr id="9" name="Arrow"/>
          <p:cNvCxnSpPr/>
          <p:nvPr/>
        </p:nvCxnSpPr>
        <p:spPr>
          <a:xfrm>
            <a:off x="4083710" y="1691640"/>
            <a:ext cx="17007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Stage"/>
          <p:cNvSpPr/>
          <p:nvPr/>
        </p:nvSpPr>
        <p:spPr>
          <a:xfrm>
            <a:off x="4262932" y="1371600"/>
            <a:ext cx="1737360" cy="64008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a:solidFill>
                  <a:srgbClr val="FFFFFF"/>
                </a:solidFill>
              </a:rPr>
              <a:t>AI Risk Reasoning</a:t>
            </a:r>
          </a:p>
        </p:txBody>
      </p:sp>
      <p:cxnSp>
        <p:nvCxnSpPr>
          <p:cNvPr id="11" name="Arrow"/>
          <p:cNvCxnSpPr/>
          <p:nvPr/>
        </p:nvCxnSpPr>
        <p:spPr>
          <a:xfrm>
            <a:off x="6009436" y="1691640"/>
            <a:ext cx="170079"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Stage"/>
          <p:cNvSpPr/>
          <p:nvPr/>
        </p:nvSpPr>
        <p:spPr>
          <a:xfrm>
            <a:off x="6188659" y="1371600"/>
            <a:ext cx="1737360" cy="64008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a:solidFill>
                  <a:srgbClr val="FFFFFF"/>
                </a:solidFill>
              </a:rPr>
              <a:t>Response Recommendation</a:t>
            </a:r>
          </a:p>
        </p:txBody>
      </p:sp>
      <p:cxnSp>
        <p:nvCxnSpPr>
          <p:cNvPr id="13" name="Arrow"/>
          <p:cNvCxnSpPr/>
          <p:nvPr/>
        </p:nvCxnSpPr>
        <p:spPr>
          <a:xfrm>
            <a:off x="7935163" y="1691640"/>
            <a:ext cx="17007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tage"/>
          <p:cNvSpPr/>
          <p:nvPr/>
        </p:nvSpPr>
        <p:spPr>
          <a:xfrm>
            <a:off x="8114385" y="1371600"/>
            <a:ext cx="1737360" cy="64008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a:solidFill>
                  <a:srgbClr val="FFFFFF"/>
                </a:solidFill>
              </a:rPr>
              <a:t>Protection Policy</a:t>
            </a:r>
          </a:p>
        </p:txBody>
      </p:sp>
      <p:cxnSp>
        <p:nvCxnSpPr>
          <p:cNvPr id="15" name="Arrow"/>
          <p:cNvCxnSpPr/>
          <p:nvPr/>
        </p:nvCxnSpPr>
        <p:spPr>
          <a:xfrm>
            <a:off x="9860889" y="1691640"/>
            <a:ext cx="170078" cy="0"/>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tage"/>
          <p:cNvSpPr/>
          <p:nvPr/>
        </p:nvSpPr>
        <p:spPr>
          <a:xfrm>
            <a:off x="10040111" y="1371600"/>
            <a:ext cx="1737360" cy="64008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350" b="1">
                <a:solidFill>
                  <a:srgbClr val="FFFFFF"/>
                </a:solidFill>
              </a:rPr>
              <a:t>User Explanation</a:t>
            </a:r>
          </a:p>
        </p:txBody>
      </p:sp>
      <p:sp>
        <p:nvSpPr>
          <p:cNvPr id="17" name="DT Branch Note"/>
          <p:cNvSpPr/>
          <p:nvPr/>
        </p:nvSpPr>
        <p:spPr>
          <a:xfrm>
            <a:off x="411480" y="2057400"/>
            <a:ext cx="11365992" cy="292608"/>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0"/>
              </a:spcAft>
            </a:pPr>
            <a:endParaRPr sz="1250" b="0" dirty="0">
              <a:solidFill>
                <a:srgbClr val="595959"/>
              </a:solidFill>
            </a:endParaRPr>
          </a:p>
        </p:txBody>
      </p:sp>
      <p:sp>
        <p:nvSpPr>
          <p:cNvPr id="18" name="Explain"/>
          <p:cNvSpPr/>
          <p:nvPr/>
        </p:nvSpPr>
        <p:spPr>
          <a:xfrm>
            <a:off x="411480" y="2423160"/>
            <a:ext cx="5760720" cy="292608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0"/>
              </a:spcAft>
            </a:pPr>
            <a:r>
              <a:rPr sz="1350" b="1">
                <a:solidFill>
                  <a:srgbClr val="2E8B9A"/>
                </a:solidFill>
              </a:rPr>
              <a:t>Evidence Context Builder</a:t>
            </a:r>
          </a:p>
          <a:p>
            <a:pPr algn="l">
              <a:spcAft>
                <a:spcPts val="400"/>
              </a:spcAft>
            </a:pPr>
            <a:r>
              <a:rPr sz="1300" b="0">
                <a:solidFill>
                  <a:srgbClr val="222222"/>
                </a:solidFill>
              </a:rPr>
              <a:t>Separates direct observations, model outputs and supporting context.</a:t>
            </a:r>
          </a:p>
          <a:p>
            <a:pPr algn="l">
              <a:spcAft>
                <a:spcPts val="0"/>
              </a:spcAft>
            </a:pPr>
            <a:r>
              <a:rPr sz="1350" b="1">
                <a:solidFill>
                  <a:srgbClr val="2E8B9A"/>
                </a:solidFill>
              </a:rPr>
              <a:t>AI Risk Reasoning</a:t>
            </a:r>
          </a:p>
          <a:p>
            <a:pPr algn="l">
              <a:spcAft>
                <a:spcPts val="400"/>
              </a:spcAft>
            </a:pPr>
            <a:r>
              <a:rPr sz="1300" b="0">
                <a:solidFill>
                  <a:srgbClr val="222222"/>
                </a:solidFill>
              </a:rPr>
              <a:t>Produces risk level, assessment, confidence, reasoning and uncertainty.</a:t>
            </a:r>
          </a:p>
          <a:p>
            <a:pPr algn="l">
              <a:spcAft>
                <a:spcPts val="0"/>
              </a:spcAft>
            </a:pPr>
            <a:r>
              <a:rPr sz="1350" b="1">
                <a:solidFill>
                  <a:srgbClr val="2E8B9A"/>
                </a:solidFill>
              </a:rPr>
              <a:t>Response Recommendation</a:t>
            </a:r>
          </a:p>
          <a:p>
            <a:pPr algn="l">
              <a:spcAft>
                <a:spcPts val="400"/>
              </a:spcAft>
            </a:pPr>
            <a:r>
              <a:rPr sz="1300" b="0">
                <a:solidFill>
                  <a:srgbClr val="222222"/>
                </a:solidFill>
              </a:rPr>
              <a:t>Monitor, Investigate, or quarantine / termination / network-block / isolation review.</a:t>
            </a:r>
          </a:p>
          <a:p>
            <a:pPr algn="l">
              <a:spcAft>
                <a:spcPts val="0"/>
              </a:spcAft>
            </a:pPr>
            <a:r>
              <a:rPr sz="1350" b="1">
                <a:solidFill>
                  <a:srgbClr val="2E8B9A"/>
                </a:solidFill>
              </a:rPr>
              <a:t>User Explanation</a:t>
            </a:r>
          </a:p>
          <a:p>
            <a:pPr algn="l">
              <a:spcAft>
                <a:spcPts val="0"/>
              </a:spcAft>
            </a:pPr>
            <a:r>
              <a:rPr sz="1300" b="0">
                <a:solidFill>
                  <a:srgbClr val="222222"/>
                </a:solidFill>
              </a:rPr>
              <a:t>Converts technical evidence into understandable security language.</a:t>
            </a:r>
          </a:p>
        </p:txBody>
      </p:sp>
      <p:sp>
        <p:nvSpPr>
          <p:cNvPr id="20" name="Result Card"/>
          <p:cNvSpPr/>
          <p:nvPr/>
        </p:nvSpPr>
        <p:spPr>
          <a:xfrm>
            <a:off x="6355080" y="2423160"/>
            <a:ext cx="5422392" cy="2926080"/>
          </a:xfrm>
          <a:prstGeom prst="roundRect">
            <a:avLst>
              <a:gd name="adj" fmla="val 6000"/>
            </a:avLst>
          </a:prstGeom>
          <a:solidFill>
            <a:srgbClr val="FFFFFF"/>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rtlCol="0" anchor="t"/>
          <a:lstStyle/>
          <a:p>
            <a:pPr algn="ctr"/>
            <a:endParaRPr/>
          </a:p>
        </p:txBody>
      </p:sp>
      <p:sp>
        <p:nvSpPr>
          <p:cNvPr id="21" name="Card Header"/>
          <p:cNvSpPr/>
          <p:nvPr/>
        </p:nvSpPr>
        <p:spPr>
          <a:xfrm>
            <a:off x="6355080" y="2423160"/>
            <a:ext cx="5422392" cy="41148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spcAft>
                <a:spcPts val="300"/>
              </a:spcAft>
            </a:pPr>
            <a:r>
              <a:rPr sz="1550" b="1">
                <a:solidFill>
                  <a:srgbClr val="FFFFFF"/>
                </a:solidFill>
              </a:rPr>
              <a:t>AI Security Analysis</a:t>
            </a:r>
            <a:r>
              <a:rPr sz="1250" b="1">
                <a:solidFill>
                  <a:srgbClr val="A5D6A7"/>
                </a:solidFill>
              </a:rPr>
              <a:t>     Ready</a:t>
            </a:r>
          </a:p>
        </p:txBody>
      </p:sp>
      <p:sp>
        <p:nvSpPr>
          <p:cNvPr id="22" name="Case"/>
          <p:cNvSpPr/>
          <p:nvPr/>
        </p:nvSpPr>
        <p:spPr>
          <a:xfrm>
            <a:off x="6537960" y="2907792"/>
            <a:ext cx="5056631" cy="68580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l">
              <a:spcAft>
                <a:spcPts val="100"/>
              </a:spcAft>
            </a:pPr>
            <a:r>
              <a:rPr sz="1450" b="1">
                <a:solidFill>
                  <a:srgbClr val="1F4E79"/>
                </a:solidFill>
              </a:rPr>
              <a:t>Suspicious PowerShell Activity</a:t>
            </a:r>
          </a:p>
          <a:p>
            <a:pPr algn="l">
              <a:spcAft>
                <a:spcPts val="0"/>
              </a:spcAft>
            </a:pPr>
            <a:r>
              <a:rPr sz="1350" b="1">
                <a:solidFill>
                  <a:srgbClr val="2E8B9A"/>
                </a:solidFill>
                <a:latin typeface="Consolas"/>
              </a:rPr>
              <a:t>winword.exe  →  powershell.exe</a:t>
            </a:r>
          </a:p>
        </p:txBody>
      </p:sp>
      <p:sp>
        <p:nvSpPr>
          <p:cNvPr id="23" name="KV Key"/>
          <p:cNvSpPr/>
          <p:nvPr/>
        </p:nvSpPr>
        <p:spPr>
          <a:xfrm>
            <a:off x="6537960" y="3611880"/>
            <a:ext cx="21945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00" b="0">
                <a:solidFill>
                  <a:srgbClr val="595959"/>
                </a:solidFill>
              </a:rPr>
              <a:t>Detector Severity</a:t>
            </a:r>
          </a:p>
        </p:txBody>
      </p:sp>
      <p:sp>
        <p:nvSpPr>
          <p:cNvPr id="24" name="KV Value"/>
          <p:cNvSpPr/>
          <p:nvPr/>
        </p:nvSpPr>
        <p:spPr>
          <a:xfrm>
            <a:off x="8823960" y="3611880"/>
            <a:ext cx="26517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B71C1C"/>
                </a:solidFill>
              </a:rPr>
              <a:t>CRITICAL</a:t>
            </a:r>
          </a:p>
        </p:txBody>
      </p:sp>
      <p:sp>
        <p:nvSpPr>
          <p:cNvPr id="25" name="KV Key"/>
          <p:cNvSpPr/>
          <p:nvPr/>
        </p:nvSpPr>
        <p:spPr>
          <a:xfrm>
            <a:off x="6537960" y="3886200"/>
            <a:ext cx="21945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00" b="0">
                <a:solidFill>
                  <a:srgbClr val="595959"/>
                </a:solidFill>
              </a:rPr>
              <a:t>AI Risk</a:t>
            </a:r>
          </a:p>
        </p:txBody>
      </p:sp>
      <p:sp>
        <p:nvSpPr>
          <p:cNvPr id="26" name="KV Value"/>
          <p:cNvSpPr/>
          <p:nvPr/>
        </p:nvSpPr>
        <p:spPr>
          <a:xfrm>
            <a:off x="8823960" y="3886200"/>
            <a:ext cx="26517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B71C1C"/>
                </a:solidFill>
              </a:rPr>
              <a:t>HIGH</a:t>
            </a:r>
          </a:p>
        </p:txBody>
      </p:sp>
      <p:sp>
        <p:nvSpPr>
          <p:cNvPr id="27" name="KV Key"/>
          <p:cNvSpPr/>
          <p:nvPr/>
        </p:nvSpPr>
        <p:spPr>
          <a:xfrm>
            <a:off x="6537960" y="4160520"/>
            <a:ext cx="21945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00" b="0">
                <a:solidFill>
                  <a:srgbClr val="595959"/>
                </a:solidFill>
              </a:rPr>
              <a:t>Assessment</a:t>
            </a:r>
          </a:p>
        </p:txBody>
      </p:sp>
      <p:sp>
        <p:nvSpPr>
          <p:cNvPr id="28" name="KV Value"/>
          <p:cNvSpPr/>
          <p:nvPr/>
        </p:nvSpPr>
        <p:spPr>
          <a:xfrm>
            <a:off x="8823960" y="4160520"/>
            <a:ext cx="26517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dirty="0">
                <a:solidFill>
                  <a:srgbClr val="C55A11"/>
                </a:solidFill>
              </a:rPr>
              <a:t>SUSPICIOUS</a:t>
            </a:r>
          </a:p>
        </p:txBody>
      </p:sp>
      <p:sp>
        <p:nvSpPr>
          <p:cNvPr id="29" name="KV Key"/>
          <p:cNvSpPr/>
          <p:nvPr/>
        </p:nvSpPr>
        <p:spPr>
          <a:xfrm>
            <a:off x="6537960" y="4434840"/>
            <a:ext cx="21945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00" b="0">
                <a:solidFill>
                  <a:srgbClr val="595959"/>
                </a:solidFill>
              </a:rPr>
              <a:t>Confidence</a:t>
            </a:r>
          </a:p>
        </p:txBody>
      </p:sp>
      <p:sp>
        <p:nvSpPr>
          <p:cNvPr id="30" name="KV Value"/>
          <p:cNvSpPr/>
          <p:nvPr/>
        </p:nvSpPr>
        <p:spPr>
          <a:xfrm>
            <a:off x="8823960" y="4434840"/>
            <a:ext cx="26517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1F4E79"/>
                </a:solidFill>
              </a:rPr>
              <a:t>91%</a:t>
            </a:r>
          </a:p>
        </p:txBody>
      </p:sp>
      <p:sp>
        <p:nvSpPr>
          <p:cNvPr id="31" name="KV Key"/>
          <p:cNvSpPr/>
          <p:nvPr/>
        </p:nvSpPr>
        <p:spPr>
          <a:xfrm>
            <a:off x="6537960" y="4709160"/>
            <a:ext cx="21945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00" b="0">
                <a:solidFill>
                  <a:srgbClr val="595959"/>
                </a:solidFill>
              </a:rPr>
              <a:t>Final Policy</a:t>
            </a:r>
          </a:p>
        </p:txBody>
      </p:sp>
      <p:sp>
        <p:nvSpPr>
          <p:cNvPr id="32" name="KV Value"/>
          <p:cNvSpPr/>
          <p:nvPr/>
        </p:nvSpPr>
        <p:spPr>
          <a:xfrm>
            <a:off x="8823960" y="4709160"/>
            <a:ext cx="2651760" cy="256032"/>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l">
              <a:spcAft>
                <a:spcPts val="0"/>
              </a:spcAft>
            </a:pPr>
            <a:r>
              <a:rPr sz="1350" b="1">
                <a:solidFill>
                  <a:srgbClr val="2E7D32"/>
                </a:solidFill>
              </a:rPr>
              <a:t>MONITOR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5: Digital Twin and Safe Response Planning</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Recommendation"/>
          <p:cNvSpPr/>
          <p:nvPr/>
        </p:nvSpPr>
        <p:spPr>
          <a:xfrm>
            <a:off x="2240280" y="1371600"/>
            <a:ext cx="2926080" cy="45720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36576" rIns="36576" rtlCol="0" anchor="ctr"/>
          <a:lstStyle/>
          <a:p>
            <a:pPr algn="ctr">
              <a:spcAft>
                <a:spcPts val="0"/>
              </a:spcAft>
            </a:pPr>
            <a:r>
              <a:rPr sz="1400" b="1">
                <a:solidFill>
                  <a:srgbClr val="FFFFFF"/>
                </a:solidFill>
              </a:rPr>
              <a:t>AI Response Recommendation</a:t>
            </a:r>
          </a:p>
        </p:txBody>
      </p:sp>
      <p:cxnSp>
        <p:nvCxnSpPr>
          <p:cNvPr id="7" name="Arrow"/>
          <p:cNvCxnSpPr/>
          <p:nvPr/>
        </p:nvCxnSpPr>
        <p:spPr>
          <a:xfrm>
            <a:off x="3703320" y="1847088"/>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Decision"/>
          <p:cNvSpPr/>
          <p:nvPr/>
        </p:nvSpPr>
        <p:spPr>
          <a:xfrm>
            <a:off x="2240280" y="2029968"/>
            <a:ext cx="2926080" cy="822960"/>
          </a:xfrm>
          <a:prstGeom prst="diamond">
            <a:avLst/>
          </a:prstGeom>
          <a:solidFill>
            <a:srgbClr val="EAF3FB"/>
          </a:solidFill>
          <a:ln w="15875">
            <a:solidFill>
              <a:srgbClr val="1F4E79"/>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spcAft>
                <a:spcPts val="0"/>
              </a:spcAft>
            </a:pPr>
            <a:r>
              <a:rPr sz="1450" b="1">
                <a:solidFill>
                  <a:srgbClr val="1F4E79"/>
                </a:solidFill>
              </a:rPr>
              <a:t>Is action disruptive?</a:t>
            </a:r>
          </a:p>
        </p:txBody>
      </p:sp>
      <p:cxnSp>
        <p:nvCxnSpPr>
          <p:cNvPr id="9" name="Line"/>
          <p:cNvCxnSpPr/>
          <p:nvPr/>
        </p:nvCxnSpPr>
        <p:spPr>
          <a:xfrm flipH="1">
            <a:off x="1554480" y="2441448"/>
            <a:ext cx="685800" cy="0"/>
          </a:xfrm>
          <a:prstGeom prst="line">
            <a:avLst/>
          </a:prstGeom>
          <a:ln w="222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0" name="Arrow"/>
          <p:cNvCxnSpPr/>
          <p:nvPr/>
        </p:nvCxnSpPr>
        <p:spPr>
          <a:xfrm>
            <a:off x="1554480" y="2441448"/>
            <a:ext cx="0" cy="66751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Line"/>
          <p:cNvCxnSpPr/>
          <p:nvPr/>
        </p:nvCxnSpPr>
        <p:spPr>
          <a:xfrm>
            <a:off x="5166360" y="2441448"/>
            <a:ext cx="685800" cy="0"/>
          </a:xfrm>
          <a:prstGeom prst="line">
            <a:avLst/>
          </a:prstGeom>
          <a:ln w="222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12" name="Arrow"/>
          <p:cNvCxnSpPr/>
          <p:nvPr/>
        </p:nvCxnSpPr>
        <p:spPr>
          <a:xfrm>
            <a:off x="5852160" y="2441448"/>
            <a:ext cx="0" cy="66751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NO"/>
          <p:cNvSpPr/>
          <p:nvPr/>
        </p:nvSpPr>
        <p:spPr>
          <a:xfrm>
            <a:off x="1600200" y="2103120"/>
            <a:ext cx="548640" cy="27432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ctr">
              <a:spcAft>
                <a:spcPts val="0"/>
              </a:spcAft>
            </a:pPr>
            <a:r>
              <a:rPr sz="1300" b="1">
                <a:solidFill>
                  <a:srgbClr val="2E7D32"/>
                </a:solidFill>
              </a:rPr>
              <a:t>NO</a:t>
            </a:r>
          </a:p>
        </p:txBody>
      </p:sp>
      <p:sp>
        <p:nvSpPr>
          <p:cNvPr id="14" name="YES"/>
          <p:cNvSpPr/>
          <p:nvPr/>
        </p:nvSpPr>
        <p:spPr>
          <a:xfrm>
            <a:off x="5257800" y="2103120"/>
            <a:ext cx="548640" cy="27432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t"/>
          <a:lstStyle/>
          <a:p>
            <a:pPr algn="ctr">
              <a:spcAft>
                <a:spcPts val="0"/>
              </a:spcAft>
            </a:pPr>
            <a:r>
              <a:rPr sz="1300" b="1">
                <a:solidFill>
                  <a:srgbClr val="B71C1C"/>
                </a:solidFill>
              </a:rPr>
              <a:t>YES</a:t>
            </a:r>
          </a:p>
        </p:txBody>
      </p:sp>
      <p:sp>
        <p:nvSpPr>
          <p:cNvPr id="15" name="No Branch"/>
          <p:cNvSpPr/>
          <p:nvPr/>
        </p:nvSpPr>
        <p:spPr>
          <a:xfrm>
            <a:off x="411480" y="3154680"/>
            <a:ext cx="2286000" cy="5943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400" b="1">
                <a:solidFill>
                  <a:srgbClr val="1F4E79"/>
                </a:solidFill>
              </a:rPr>
              <a:t>Monitor / Investigate</a:t>
            </a:r>
          </a:p>
        </p:txBody>
      </p:sp>
      <p:cxnSp>
        <p:nvCxnSpPr>
          <p:cNvPr id="16" name="Arrow"/>
          <p:cNvCxnSpPr/>
          <p:nvPr/>
        </p:nvCxnSpPr>
        <p:spPr>
          <a:xfrm>
            <a:off x="1554480" y="3767328"/>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DT Not Required"/>
          <p:cNvSpPr/>
          <p:nvPr/>
        </p:nvSpPr>
        <p:spPr>
          <a:xfrm>
            <a:off x="411480" y="3950208"/>
            <a:ext cx="2286000" cy="594360"/>
          </a:xfrm>
          <a:prstGeom prst="roundRect">
            <a:avLst>
              <a:gd name="adj" fmla="val 6000"/>
            </a:avLst>
          </a:prstGeom>
          <a:solidFill>
            <a:srgbClr val="FFFFFF"/>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300" b="1">
                <a:solidFill>
                  <a:srgbClr val="2E7D32"/>
                </a:solidFill>
              </a:rPr>
              <a:t>Digital Twin: NOT REQUIRED</a:t>
            </a:r>
          </a:p>
        </p:txBody>
      </p:sp>
      <p:sp>
        <p:nvSpPr>
          <p:cNvPr id="18" name="Reason"/>
          <p:cNvSpPr/>
          <p:nvPr/>
        </p:nvSpPr>
        <p:spPr>
          <a:xfrm>
            <a:off x="411480" y="4617720"/>
            <a:ext cx="2286000" cy="64008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rIns="18288" rtlCol="0" anchor="t"/>
          <a:lstStyle/>
          <a:p>
            <a:pPr algn="ctr">
              <a:spcAft>
                <a:spcPts val="300"/>
              </a:spcAft>
            </a:pPr>
            <a:r>
              <a:rPr sz="1200" b="0">
                <a:solidFill>
                  <a:srgbClr val="595959"/>
                </a:solidFill>
              </a:rPr>
              <a:t>No disruptive action was recommended.</a:t>
            </a:r>
          </a:p>
        </p:txBody>
      </p:sp>
      <p:cxnSp>
        <p:nvCxnSpPr>
          <p:cNvPr id="19" name="Arrow"/>
          <p:cNvCxnSpPr/>
          <p:nvPr/>
        </p:nvCxnSpPr>
        <p:spPr>
          <a:xfrm>
            <a:off x="1554480" y="5257800"/>
            <a:ext cx="0" cy="21031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Yes Branch"/>
          <p:cNvSpPr/>
          <p:nvPr/>
        </p:nvSpPr>
        <p:spPr>
          <a:xfrm>
            <a:off x="4526280" y="3154680"/>
            <a:ext cx="2651760" cy="59436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0"/>
              </a:spcAft>
            </a:pPr>
            <a:r>
              <a:rPr sz="1300" b="1">
                <a:solidFill>
                  <a:srgbClr val="FFFFFF"/>
                </a:solidFill>
              </a:rPr>
              <a:t>Generate candidate response plans</a:t>
            </a:r>
          </a:p>
        </p:txBody>
      </p:sp>
      <p:sp>
        <p:nvSpPr>
          <p:cNvPr id="21" name="Yes Branch"/>
          <p:cNvSpPr/>
          <p:nvPr/>
        </p:nvSpPr>
        <p:spPr>
          <a:xfrm>
            <a:off x="4526280" y="3950208"/>
            <a:ext cx="2651760" cy="82296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0"/>
              </a:spcAft>
            </a:pPr>
            <a:r>
              <a:rPr sz="1300" b="1">
                <a:solidFill>
                  <a:srgbClr val="FFFFFF"/>
                </a:solidFill>
              </a:rPr>
              <a:t>Digital Twin: simulate security benefit + operational impact</a:t>
            </a:r>
          </a:p>
        </p:txBody>
      </p:sp>
      <p:sp>
        <p:nvSpPr>
          <p:cNvPr id="22" name="Yes Branch"/>
          <p:cNvSpPr/>
          <p:nvPr/>
        </p:nvSpPr>
        <p:spPr>
          <a:xfrm>
            <a:off x="4526280" y="4882896"/>
            <a:ext cx="2651760" cy="457200"/>
          </a:xfrm>
          <a:prstGeom prst="roundRect">
            <a:avLst>
              <a:gd name="adj" fmla="val 6000"/>
            </a:avLst>
          </a:prstGeom>
          <a:solidFill>
            <a:srgbClr val="2E8B9A"/>
          </a:solidFill>
          <a:ln>
            <a:noFill/>
          </a:ln>
          <a:effectLst/>
        </p:spPr>
        <p:style>
          <a:lnRef idx="1">
            <a:schemeClr val="accent1"/>
          </a:lnRef>
          <a:fillRef idx="3">
            <a:schemeClr val="accent1"/>
          </a:fillRef>
          <a:effectRef idx="2">
            <a:schemeClr val="accent1"/>
          </a:effectRef>
          <a:fontRef idx="minor">
            <a:schemeClr val="lt1"/>
          </a:fontRef>
        </p:style>
        <p:txBody>
          <a:bodyPr wrap="square" lIns="54864" rIns="54864" rtlCol="0" anchor="ctr"/>
          <a:lstStyle/>
          <a:p>
            <a:pPr algn="ctr">
              <a:spcAft>
                <a:spcPts val="0"/>
              </a:spcAft>
            </a:pPr>
            <a:r>
              <a:rPr sz="1300" b="1">
                <a:solidFill>
                  <a:srgbClr val="FFFFFF"/>
                </a:solidFill>
              </a:rPr>
              <a:t>Select safer plan</a:t>
            </a:r>
          </a:p>
        </p:txBody>
      </p:sp>
      <p:cxnSp>
        <p:nvCxnSpPr>
          <p:cNvPr id="23" name="Arrow"/>
          <p:cNvCxnSpPr/>
          <p:nvPr/>
        </p:nvCxnSpPr>
        <p:spPr>
          <a:xfrm>
            <a:off x="5852160" y="3767328"/>
            <a:ext cx="0" cy="16459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Arrow"/>
          <p:cNvCxnSpPr/>
          <p:nvPr/>
        </p:nvCxnSpPr>
        <p:spPr>
          <a:xfrm>
            <a:off x="5852160" y="4791456"/>
            <a:ext cx="0" cy="73152"/>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p:cNvCxnSpPr/>
          <p:nvPr/>
        </p:nvCxnSpPr>
        <p:spPr>
          <a:xfrm>
            <a:off x="5852160" y="5358384"/>
            <a:ext cx="0" cy="109728"/>
          </a:xfrm>
          <a:prstGeom prst="line">
            <a:avLst/>
          </a:prstGeom>
          <a:ln w="222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Policy"/>
          <p:cNvSpPr/>
          <p:nvPr/>
        </p:nvSpPr>
        <p:spPr>
          <a:xfrm>
            <a:off x="411480" y="5486400"/>
            <a:ext cx="6766560" cy="384048"/>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450" b="1">
                <a:solidFill>
                  <a:srgbClr val="FFFFFF"/>
                </a:solidFill>
              </a:rPr>
              <a:t>Protection Policy</a:t>
            </a:r>
          </a:p>
        </p:txBody>
      </p:sp>
      <p:sp>
        <p:nvSpPr>
          <p:cNvPr id="27" name="Candidates"/>
          <p:cNvSpPr/>
          <p:nvPr/>
        </p:nvSpPr>
        <p:spPr>
          <a:xfrm>
            <a:off x="7406640" y="1371600"/>
            <a:ext cx="4370832" cy="214884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500" b="1" dirty="0">
                <a:solidFill>
                  <a:srgbClr val="1F4E79"/>
                </a:solidFill>
              </a:rPr>
              <a:t>Candidate responses</a:t>
            </a:r>
          </a:p>
          <a:p>
            <a:pPr algn="l">
              <a:spcAft>
                <a:spcPts val="0"/>
              </a:spcAft>
            </a:pPr>
            <a:r>
              <a:rPr sz="1250" b="0" dirty="0">
                <a:solidFill>
                  <a:srgbClr val="222222"/>
                </a:solidFill>
              </a:rPr>
              <a:t>•</a:t>
            </a:r>
            <a:r>
              <a:rPr sz="1600" b="0" dirty="0">
                <a:solidFill>
                  <a:srgbClr val="222222"/>
                </a:solidFill>
              </a:rPr>
              <a:t> Monitor only</a:t>
            </a:r>
          </a:p>
          <a:p>
            <a:pPr algn="l">
              <a:spcAft>
                <a:spcPts val="0"/>
              </a:spcAft>
            </a:pPr>
            <a:r>
              <a:rPr sz="1600" b="0" dirty="0">
                <a:solidFill>
                  <a:srgbClr val="222222"/>
                </a:solidFill>
              </a:rPr>
              <a:t>• Investigate</a:t>
            </a:r>
          </a:p>
          <a:p>
            <a:pPr algn="l">
              <a:spcAft>
                <a:spcPts val="0"/>
              </a:spcAft>
            </a:pPr>
            <a:r>
              <a:rPr sz="1600" b="0" dirty="0">
                <a:solidFill>
                  <a:srgbClr val="222222"/>
                </a:solidFill>
              </a:rPr>
              <a:t>• Quarantine review</a:t>
            </a:r>
          </a:p>
          <a:p>
            <a:pPr algn="l">
              <a:spcAft>
                <a:spcPts val="0"/>
              </a:spcAft>
            </a:pPr>
            <a:r>
              <a:rPr sz="1600" b="0" dirty="0">
                <a:solidFill>
                  <a:srgbClr val="222222"/>
                </a:solidFill>
              </a:rPr>
              <a:t>• Terminate process review</a:t>
            </a:r>
          </a:p>
          <a:p>
            <a:pPr algn="l">
              <a:spcAft>
                <a:spcPts val="0"/>
              </a:spcAft>
            </a:pPr>
            <a:r>
              <a:rPr sz="1600" b="0" dirty="0">
                <a:solidFill>
                  <a:srgbClr val="222222"/>
                </a:solidFill>
              </a:rPr>
              <a:t>• Block network review</a:t>
            </a:r>
          </a:p>
          <a:p>
            <a:pPr algn="l">
              <a:spcAft>
                <a:spcPts val="0"/>
              </a:spcAft>
            </a:pPr>
            <a:r>
              <a:rPr sz="1600" b="0" dirty="0">
                <a:solidFill>
                  <a:srgbClr val="222222"/>
                </a:solidFill>
              </a:rPr>
              <a:t>• Persistence-remediation review</a:t>
            </a:r>
          </a:p>
          <a:p>
            <a:pPr algn="l">
              <a:spcAft>
                <a:spcPts val="0"/>
              </a:spcAft>
            </a:pPr>
            <a:r>
              <a:rPr sz="1600" b="0" dirty="0">
                <a:solidFill>
                  <a:srgbClr val="222222"/>
                </a:solidFill>
              </a:rPr>
              <a:t>• Endpoint-isolation review</a:t>
            </a:r>
          </a:p>
        </p:txBody>
      </p:sp>
      <p:sp>
        <p:nvSpPr>
          <p:cNvPr id="28" name="Outcomes"/>
          <p:cNvSpPr/>
          <p:nvPr/>
        </p:nvSpPr>
        <p:spPr>
          <a:xfrm>
            <a:off x="7406640" y="3639312"/>
            <a:ext cx="4370832" cy="86868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500" b="1">
                <a:solidFill>
                  <a:srgbClr val="1F4E79"/>
                </a:solidFill>
              </a:rPr>
              <a:t>Policy outcomes</a:t>
            </a:r>
          </a:p>
          <a:p>
            <a:pPr algn="l">
              <a:spcAft>
                <a:spcPts val="300"/>
              </a:spcAft>
            </a:pPr>
            <a:r>
              <a:rPr sz="1300" b="1">
                <a:solidFill>
                  <a:srgbClr val="2E8B9A"/>
                </a:solidFill>
              </a:rPr>
              <a:t>MONITOR   |   ASK_USER   |   PROTECT_PREVIEW</a:t>
            </a:r>
          </a:p>
        </p:txBody>
      </p:sp>
      <p:sp>
        <p:nvSpPr>
          <p:cNvPr id="29" name="Example"/>
          <p:cNvSpPr/>
          <p:nvPr/>
        </p:nvSpPr>
        <p:spPr>
          <a:xfrm>
            <a:off x="7406640" y="4626864"/>
            <a:ext cx="4370832" cy="1243584"/>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200"/>
              </a:spcAft>
            </a:pPr>
            <a:r>
              <a:rPr sz="1450" b="1">
                <a:solidFill>
                  <a:srgbClr val="1F4E79"/>
                </a:solidFill>
              </a:rPr>
              <a:t>PowerShell case</a:t>
            </a:r>
          </a:p>
          <a:p>
            <a:pPr algn="l">
              <a:spcAft>
                <a:spcPts val="0"/>
              </a:spcAft>
            </a:pPr>
            <a:r>
              <a:rPr sz="1250" b="0">
                <a:solidFill>
                  <a:srgbClr val="222222"/>
                </a:solidFill>
              </a:rPr>
              <a:t>Response: Monitor / Investigate</a:t>
            </a:r>
          </a:p>
          <a:p>
            <a:pPr algn="l">
              <a:spcAft>
                <a:spcPts val="300"/>
              </a:spcAft>
            </a:pPr>
            <a:r>
              <a:rPr sz="1250" b="0">
                <a:solidFill>
                  <a:srgbClr val="222222"/>
                </a:solidFill>
              </a:rPr>
              <a:t>Digital Twin: NOT REQUIRED, because no disruptive action was recommended (a correct result, not an error).</a:t>
            </a:r>
          </a:p>
        </p:txBody>
      </p:sp>
      <p:sp>
        <p:nvSpPr>
          <p:cNvPr id="30" name="Simulation Only"/>
          <p:cNvSpPr/>
          <p:nvPr/>
        </p:nvSpPr>
        <p:spPr>
          <a:xfrm>
            <a:off x="411480" y="5943600"/>
            <a:ext cx="11365992" cy="347472"/>
          </a:xfrm>
          <a:prstGeom prst="roundRect">
            <a:avLst>
              <a:gd name="adj" fmla="val 6000"/>
            </a:avLst>
          </a:prstGeom>
          <a:solidFill>
            <a:srgbClr val="FCEBD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Aft>
                <a:spcPts val="0"/>
              </a:spcAft>
            </a:pPr>
            <a:r>
              <a:rPr sz="1300" b="1">
                <a:solidFill>
                  <a:srgbClr val="C55A11"/>
                </a:solidFill>
              </a:rPr>
              <a:t>Simulation only: Sentinel-X does not currently terminate processes, quarantine files, block connections or isolate the device.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Module 6: User Security Interface and Live Monitoring</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UI Page"/>
          <p:cNvSpPr/>
          <p:nvPr/>
        </p:nvSpPr>
        <p:spPr>
          <a:xfrm>
            <a:off x="411480" y="137160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Dashboard</a:t>
            </a:r>
          </a:p>
          <a:p>
            <a:pPr algn="l">
              <a:spcAft>
                <a:spcPts val="100"/>
              </a:spcAft>
            </a:pPr>
            <a:r>
              <a:rPr sz="1500" b="0">
                <a:solidFill>
                  <a:srgbClr val="222222"/>
                </a:solidFill>
              </a:rPr>
              <a:t>• High-level security status</a:t>
            </a:r>
          </a:p>
          <a:p>
            <a:pPr algn="l">
              <a:spcAft>
                <a:spcPts val="100"/>
              </a:spcAft>
            </a:pPr>
            <a:r>
              <a:rPr sz="1500" b="0">
                <a:solidFill>
                  <a:srgbClr val="222222"/>
                </a:solidFill>
              </a:rPr>
              <a:t>• Recent activity</a:t>
            </a:r>
          </a:p>
        </p:txBody>
      </p:sp>
      <p:sp>
        <p:nvSpPr>
          <p:cNvPr id="7" name="UI Page"/>
          <p:cNvSpPr/>
          <p:nvPr/>
        </p:nvSpPr>
        <p:spPr>
          <a:xfrm>
            <a:off x="4251960" y="137160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Live Monitor</a:t>
            </a:r>
          </a:p>
          <a:p>
            <a:pPr algn="l">
              <a:spcAft>
                <a:spcPts val="100"/>
              </a:spcAft>
            </a:pPr>
            <a:r>
              <a:rPr sz="1500" b="0">
                <a:solidFill>
                  <a:srgbClr val="222222"/>
                </a:solidFill>
              </a:rPr>
              <a:t>• Real Windows telemetry: process, file, network, registry / system</a:t>
            </a:r>
          </a:p>
          <a:p>
            <a:pPr algn="l">
              <a:spcAft>
                <a:spcPts val="100"/>
              </a:spcAft>
            </a:pPr>
            <a:r>
              <a:rPr sz="1500" b="0">
                <a:solidFill>
                  <a:srgbClr val="222222"/>
                </a:solidFill>
              </a:rPr>
              <a:t>• Collector state</a:t>
            </a:r>
          </a:p>
          <a:p>
            <a:pPr algn="l">
              <a:spcAft>
                <a:spcPts val="100"/>
              </a:spcAft>
            </a:pPr>
            <a:r>
              <a:rPr sz="1500" b="0">
                <a:solidFill>
                  <a:srgbClr val="222222"/>
                </a:solidFill>
              </a:rPr>
              <a:t>• Continuously updating graph</a:t>
            </a:r>
          </a:p>
        </p:txBody>
      </p:sp>
      <p:sp>
        <p:nvSpPr>
          <p:cNvPr id="8" name="UI Page"/>
          <p:cNvSpPr/>
          <p:nvPr/>
        </p:nvSpPr>
        <p:spPr>
          <a:xfrm>
            <a:off x="8092440" y="137160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Threats / Threat Detail</a:t>
            </a:r>
          </a:p>
          <a:p>
            <a:pPr algn="l">
              <a:spcAft>
                <a:spcPts val="100"/>
              </a:spcAft>
            </a:pPr>
            <a:r>
              <a:rPr sz="1500" b="0">
                <a:solidFill>
                  <a:srgbClr val="222222"/>
                </a:solidFill>
              </a:rPr>
              <a:t>• Category, severity, evidence</a:t>
            </a:r>
          </a:p>
          <a:p>
            <a:pPr algn="l">
              <a:spcAft>
                <a:spcPts val="100"/>
              </a:spcAft>
            </a:pPr>
            <a:r>
              <a:rPr sz="1500" b="0">
                <a:solidFill>
                  <a:srgbClr val="222222"/>
                </a:solidFill>
              </a:rPr>
              <a:t>• Detector results</a:t>
            </a:r>
          </a:p>
          <a:p>
            <a:pPr algn="l">
              <a:spcAft>
                <a:spcPts val="100"/>
              </a:spcAft>
            </a:pPr>
            <a:r>
              <a:rPr sz="1500" b="0">
                <a:solidFill>
                  <a:srgbClr val="222222"/>
                </a:solidFill>
              </a:rPr>
              <a:t>• AI explanation, protection review</a:t>
            </a:r>
          </a:p>
        </p:txBody>
      </p:sp>
      <p:sp>
        <p:nvSpPr>
          <p:cNvPr id="9" name="UI Page"/>
          <p:cNvSpPr/>
          <p:nvPr/>
        </p:nvSpPr>
        <p:spPr>
          <a:xfrm>
            <a:off x="411480" y="338328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AI Security</a:t>
            </a:r>
          </a:p>
          <a:p>
            <a:pPr algn="l">
              <a:spcAft>
                <a:spcPts val="100"/>
              </a:spcAft>
            </a:pPr>
            <a:r>
              <a:rPr sz="1500" b="0">
                <a:solidFill>
                  <a:srgbClr val="222222"/>
                </a:solidFill>
              </a:rPr>
              <a:t>• Investigation context</a:t>
            </a:r>
          </a:p>
          <a:p>
            <a:pPr algn="l">
              <a:spcAft>
                <a:spcPts val="100"/>
              </a:spcAft>
            </a:pPr>
            <a:r>
              <a:rPr sz="1500" b="0">
                <a:solidFill>
                  <a:srgbClr val="222222"/>
                </a:solidFill>
              </a:rPr>
              <a:t>• Evidence reasoning</a:t>
            </a:r>
          </a:p>
          <a:p>
            <a:pPr algn="l">
              <a:spcAft>
                <a:spcPts val="100"/>
              </a:spcAft>
            </a:pPr>
            <a:r>
              <a:rPr sz="1500" b="0">
                <a:solidFill>
                  <a:srgbClr val="222222"/>
                </a:solidFill>
              </a:rPr>
              <a:t>• Risk and response recommendation</a:t>
            </a:r>
          </a:p>
        </p:txBody>
      </p:sp>
      <p:sp>
        <p:nvSpPr>
          <p:cNvPr id="10" name="UI Page"/>
          <p:cNvSpPr/>
          <p:nvPr/>
        </p:nvSpPr>
        <p:spPr>
          <a:xfrm>
            <a:off x="4251960" y="338328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Response Simulator</a:t>
            </a:r>
          </a:p>
          <a:p>
            <a:pPr algn="l">
              <a:spcAft>
                <a:spcPts val="100"/>
              </a:spcAft>
            </a:pPr>
            <a:r>
              <a:rPr sz="1500" b="0">
                <a:solidFill>
                  <a:srgbClr val="222222"/>
                </a:solidFill>
              </a:rPr>
              <a:t>• Digital Twin</a:t>
            </a:r>
          </a:p>
          <a:p>
            <a:pPr algn="l">
              <a:spcAft>
                <a:spcPts val="100"/>
              </a:spcAft>
            </a:pPr>
            <a:r>
              <a:rPr sz="1500" b="0">
                <a:solidFill>
                  <a:srgbClr val="222222"/>
                </a:solidFill>
              </a:rPr>
              <a:t>• Candidate response plans</a:t>
            </a:r>
          </a:p>
          <a:p>
            <a:pPr algn="l">
              <a:spcAft>
                <a:spcPts val="100"/>
              </a:spcAft>
            </a:pPr>
            <a:r>
              <a:rPr sz="1500" b="0">
                <a:solidFill>
                  <a:srgbClr val="222222"/>
                </a:solidFill>
              </a:rPr>
              <a:t>• Simulation-only behavior</a:t>
            </a:r>
          </a:p>
        </p:txBody>
      </p:sp>
      <p:sp>
        <p:nvSpPr>
          <p:cNvPr id="11" name="UI Page"/>
          <p:cNvSpPr/>
          <p:nvPr/>
        </p:nvSpPr>
        <p:spPr>
          <a:xfrm>
            <a:off x="8092440" y="3383280"/>
            <a:ext cx="3685032" cy="1874519"/>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300"/>
              </a:spcAft>
            </a:pPr>
            <a:r>
              <a:rPr sz="1750" b="1">
                <a:solidFill>
                  <a:srgbClr val="2E8B9A"/>
                </a:solidFill>
              </a:rPr>
              <a:t>Reports</a:t>
            </a:r>
          </a:p>
          <a:p>
            <a:pPr algn="l">
              <a:spcAft>
                <a:spcPts val="100"/>
              </a:spcAft>
            </a:pPr>
            <a:r>
              <a:rPr sz="1500" b="0">
                <a:solidFill>
                  <a:srgbClr val="222222"/>
                </a:solidFill>
              </a:rPr>
              <a:t>• Security summary</a:t>
            </a:r>
          </a:p>
          <a:p>
            <a:pPr algn="l">
              <a:spcAft>
                <a:spcPts val="100"/>
              </a:spcAft>
            </a:pPr>
            <a:r>
              <a:rPr sz="1500" b="0">
                <a:solidFill>
                  <a:srgbClr val="222222"/>
                </a:solidFill>
              </a:rPr>
              <a:t>• Historical information</a:t>
            </a:r>
          </a:p>
        </p:txBody>
      </p:sp>
      <p:sp>
        <p:nvSpPr>
          <p:cNvPr id="12" name="Boundary Synthetic"/>
          <p:cNvSpPr/>
          <p:nvPr/>
        </p:nvSpPr>
        <p:spPr>
          <a:xfrm>
            <a:off x="411480" y="5468112"/>
            <a:ext cx="5577840" cy="804672"/>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100"/>
              </a:spcAft>
            </a:pPr>
            <a:r>
              <a:rPr sz="1550" b="1">
                <a:solidFill>
                  <a:srgbClr val="1F4E79"/>
                </a:solidFill>
              </a:rPr>
              <a:t>Full security workflow</a:t>
            </a:r>
          </a:p>
          <a:p>
            <a:pPr algn="l">
              <a:spcAft>
                <a:spcPts val="300"/>
              </a:spcAft>
            </a:pPr>
            <a:r>
              <a:rPr sz="1550" b="0">
                <a:solidFill>
                  <a:srgbClr val="222222"/>
                </a:solidFill>
              </a:rPr>
              <a:t>Controlled synthetic scenarios</a:t>
            </a:r>
          </a:p>
        </p:txBody>
      </p:sp>
      <p:sp>
        <p:nvSpPr>
          <p:cNvPr id="13" name="Boundary Real"/>
          <p:cNvSpPr/>
          <p:nvPr/>
        </p:nvSpPr>
        <p:spPr>
          <a:xfrm>
            <a:off x="6199632" y="5468112"/>
            <a:ext cx="5577840" cy="804672"/>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wrap="square" lIns="164592" rIns="164592" rtlCol="0" anchor="t"/>
          <a:lstStyle/>
          <a:p>
            <a:pPr algn="l">
              <a:spcAft>
                <a:spcPts val="100"/>
              </a:spcAft>
            </a:pPr>
            <a:r>
              <a:rPr sz="1550" b="1">
                <a:solidFill>
                  <a:srgbClr val="1F4E79"/>
                </a:solidFill>
              </a:rPr>
              <a:t>Real endpoint data</a:t>
            </a:r>
          </a:p>
          <a:p>
            <a:pPr algn="l">
              <a:spcAft>
                <a:spcPts val="300"/>
              </a:spcAft>
            </a:pPr>
            <a:r>
              <a:rPr sz="1550" b="0">
                <a:solidFill>
                  <a:srgbClr val="222222"/>
                </a:solidFill>
              </a:rPr>
              <a:t>Continuous Live Monitor telemetry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2285344-F148-F919-C5FA-EDC6365C89D0}"/>
              </a:ext>
            </a:extLst>
          </p:cNvPr>
          <p:cNvSpPr>
            <a:spLocks noGrp="1"/>
          </p:cNvSpPr>
          <p:nvPr>
            <p:ph type="body" sz="quarter" idx="13"/>
          </p:nvPr>
        </p:nvSpPr>
        <p:spPr>
          <a:xfrm>
            <a:off x="255996" y="1271219"/>
            <a:ext cx="11796574" cy="4957256"/>
          </a:xfrm>
        </p:spPr>
        <p:txBody>
          <a:bodyPr/>
          <a:lstStyle/>
          <a:p>
            <a:pPr algn="just"/>
            <a:r>
              <a:rPr lang="en-US" sz="1800" dirty="0">
                <a:solidFill>
                  <a:schemeClr val="tx1"/>
                </a:solidFill>
                <a:latin typeface="+mn-lt"/>
              </a:rPr>
              <a:t>PE Malware Classification</a:t>
            </a:r>
            <a:r>
              <a:rPr lang="en-US" sz="1800" b="0" dirty="0">
                <a:solidFill>
                  <a:schemeClr val="tx1"/>
                </a:solidFill>
                <a:latin typeface="+mn-lt"/>
              </a:rPr>
              <a:t>: XGBoost achieved 96.96% Accuracy, 97.20% Precision, 96.71% Recall, 96.95% F1-score, and 99.51% ROC-AUC on held-out labeled data.</a:t>
            </a:r>
          </a:p>
          <a:p>
            <a:pPr algn="just"/>
            <a:r>
              <a:rPr lang="en-US" sz="1800" dirty="0">
                <a:solidFill>
                  <a:schemeClr val="tx1"/>
                </a:solidFill>
                <a:latin typeface="+mn-lt"/>
              </a:rPr>
              <a:t>Network Behavior Validation</a:t>
            </a:r>
            <a:r>
              <a:rPr lang="en-US" sz="1800" b="0" dirty="0">
                <a:solidFill>
                  <a:schemeClr val="tx1"/>
                </a:solidFill>
                <a:latin typeface="+mn-lt"/>
              </a:rPr>
              <a:t>: covering normal traffic, connection burst, port scan, DoS, beaconing, and distributed flood behavior.</a:t>
            </a:r>
          </a:p>
          <a:p>
            <a:pPr algn="just"/>
            <a:r>
              <a:rPr lang="en-US" sz="1800" dirty="0">
                <a:solidFill>
                  <a:schemeClr val="tx1"/>
                </a:solidFill>
                <a:latin typeface="+mn-lt"/>
              </a:rPr>
              <a:t>End-to-End Validation</a:t>
            </a:r>
            <a:r>
              <a:rPr lang="en-US" sz="1800" b="0" dirty="0">
                <a:solidFill>
                  <a:schemeClr val="tx1"/>
                </a:solidFill>
                <a:latin typeface="+mn-lt"/>
              </a:rPr>
              <a:t>: detection and correlation to AI investigation, risk assessment, Digital Twin policy, mitigation verification, and API/UI visibility.</a:t>
            </a:r>
          </a:p>
          <a:p>
            <a:pPr algn="just"/>
            <a:r>
              <a:rPr lang="en-US" sz="1800" dirty="0">
                <a:solidFill>
                  <a:schemeClr val="tx1"/>
                </a:solidFill>
                <a:latin typeface="+mn-lt"/>
              </a:rPr>
              <a:t>Multi-Layer Detection</a:t>
            </a:r>
            <a:r>
              <a:rPr lang="en-US" sz="1800" b="0" dirty="0">
                <a:solidFill>
                  <a:schemeClr val="tx1"/>
                </a:solidFill>
                <a:latin typeface="+mn-lt"/>
              </a:rPr>
              <a:t>: Rules, statistical analysis, Isolation Forest, Autoencoder, Temporal Transformer, and Graph AI provide complementary evidence instead of relying on one detector.</a:t>
            </a:r>
          </a:p>
          <a:p>
            <a:pPr algn="just"/>
            <a:r>
              <a:rPr lang="en-US" sz="1800" dirty="0">
                <a:solidFill>
                  <a:schemeClr val="tx1"/>
                </a:solidFill>
                <a:latin typeface="+mn-lt"/>
              </a:rPr>
              <a:t>AI-Assisted Investigation</a:t>
            </a:r>
            <a:r>
              <a:rPr lang="en-US" sz="1800" b="0" dirty="0">
                <a:solidFill>
                  <a:schemeClr val="tx1"/>
                </a:solidFill>
                <a:latin typeface="+mn-lt"/>
              </a:rPr>
              <a:t>: On-demand AI generates risk level, assessment, confidence, uncertainty, and response recommendations from grounded security evidence.</a:t>
            </a:r>
          </a:p>
          <a:p>
            <a:pPr algn="just"/>
            <a:r>
              <a:rPr lang="en-US" sz="1800" dirty="0">
                <a:solidFill>
                  <a:schemeClr val="tx1"/>
                </a:solidFill>
                <a:latin typeface="+mn-lt"/>
              </a:rPr>
              <a:t>Real-Time Endpoint Monitoring</a:t>
            </a:r>
            <a:r>
              <a:rPr lang="en-US" sz="1800" b="0" dirty="0">
                <a:solidFill>
                  <a:schemeClr val="tx1"/>
                </a:solidFill>
                <a:latin typeface="+mn-lt"/>
              </a:rPr>
              <a:t>: Process, file, network, and registry collectors successfully provide continuous Windows telemetry to Live Monitor.</a:t>
            </a:r>
          </a:p>
          <a:p>
            <a:pPr algn="just"/>
            <a:r>
              <a:rPr lang="en-US" sz="1800" dirty="0">
                <a:solidFill>
                  <a:schemeClr val="tx1"/>
                </a:solidFill>
                <a:latin typeface="+mn-lt"/>
              </a:rPr>
              <a:t>Safe Response Planning</a:t>
            </a:r>
            <a:r>
              <a:rPr lang="en-US" sz="1800" b="0" dirty="0">
                <a:solidFill>
                  <a:schemeClr val="tx1"/>
                </a:solidFill>
                <a:latin typeface="+mn-lt"/>
              </a:rPr>
              <a:t>: High-severity alerts do not automatically trigger containment; Digital Twin and protection-policy layers keep disruptive actions simulation-only.</a:t>
            </a:r>
          </a:p>
        </p:txBody>
      </p:sp>
      <p:sp>
        <p:nvSpPr>
          <p:cNvPr id="3" name="Text Placeholder 2">
            <a:extLst>
              <a:ext uri="{FF2B5EF4-FFF2-40B4-BE49-F238E27FC236}">
                <a16:creationId xmlns:a16="http://schemas.microsoft.com/office/drawing/2014/main" id="{CE5E31CF-D33A-C60B-813E-444BBCD13E2E}"/>
              </a:ext>
            </a:extLst>
          </p:cNvPr>
          <p:cNvSpPr>
            <a:spLocks noGrp="1"/>
          </p:cNvSpPr>
          <p:nvPr>
            <p:ph type="body" sz="quarter" idx="15"/>
          </p:nvPr>
        </p:nvSpPr>
        <p:spPr/>
        <p:txBody>
          <a:bodyPr/>
          <a:lstStyle/>
          <a:p>
            <a:pPr marL="0" indent="0">
              <a:buNone/>
            </a:pPr>
            <a:r>
              <a:rPr lang="en-US" dirty="0"/>
              <a:t>Findings and Results…</a:t>
            </a:r>
          </a:p>
        </p:txBody>
      </p:sp>
      <p:sp>
        <p:nvSpPr>
          <p:cNvPr id="5" name="TextBox 4">
            <a:extLst>
              <a:ext uri="{FF2B5EF4-FFF2-40B4-BE49-F238E27FC236}">
                <a16:creationId xmlns:a16="http://schemas.microsoft.com/office/drawing/2014/main" id="{B9FE65F3-3BB7-5874-6B46-9D512BBFA8BF}"/>
              </a:ext>
            </a:extLst>
          </p:cNvPr>
          <p:cNvSpPr txBox="1"/>
          <p:nvPr/>
        </p:nvSpPr>
        <p:spPr>
          <a:xfrm>
            <a:off x="3852154" y="0"/>
            <a:ext cx="8674639" cy="369332"/>
          </a:xfrm>
          <a:prstGeom prst="rect">
            <a:avLst/>
          </a:prstGeom>
          <a:noFill/>
        </p:spPr>
        <p:txBody>
          <a:bodyPr wrap="square">
            <a:spAutoFit/>
          </a:bodyPr>
          <a:lstStyle/>
          <a:p>
            <a:pPr algn="ctr"/>
            <a:r>
              <a:rPr lang="en-US" sz="1800" b="1" dirty="0">
                <a:solidFill>
                  <a:srgbClr val="FFFFFF"/>
                </a:solidFill>
                <a:cs typeface="Calibri"/>
              </a:rPr>
              <a:t>Intelligent Supply Chain Management Platform for Electric Vehicle Manufacturing</a:t>
            </a:r>
          </a:p>
        </p:txBody>
      </p:sp>
    </p:spTree>
    <p:extLst>
      <p:ext uri="{BB962C8B-B14F-4D97-AF65-F5344CB8AC3E}">
        <p14:creationId xmlns:p14="http://schemas.microsoft.com/office/powerpoint/2010/main" val="37034986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Conclusion and Future Scope</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6" name="Conclusion"/>
          <p:cNvSpPr/>
          <p:nvPr/>
        </p:nvSpPr>
        <p:spPr>
          <a:xfrm>
            <a:off x="411480" y="1371600"/>
            <a:ext cx="4937760" cy="4892040"/>
          </a:xfrm>
          <a:prstGeom prst="roundRect">
            <a:avLst>
              <a:gd name="adj" fmla="val 6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800"/>
              </a:spcAft>
            </a:pPr>
            <a:r>
              <a:rPr sz="2300" b="1">
                <a:solidFill>
                  <a:srgbClr val="FFFFFF"/>
                </a:solidFill>
              </a:rPr>
              <a:t>Conclusion</a:t>
            </a:r>
          </a:p>
          <a:p>
            <a:pPr algn="l">
              <a:spcAft>
                <a:spcPts val="1000"/>
              </a:spcAft>
            </a:pPr>
            <a:r>
              <a:rPr sz="1600" b="0">
                <a:solidFill>
                  <a:srgbClr val="FFFFFF"/>
                </a:solidFill>
              </a:rPr>
              <a:t>Sentinel-X integrates Windows endpoint telemetry, multi-layer behavioral and AI-based detection, evidence fusion, incident correlation, on-demand AI investigation, explainable risk reasoning and Digital Twin response simulation into a unified, user-focused cybersecurity prototype.</a:t>
            </a:r>
          </a:p>
          <a:p>
            <a:pPr algn="l">
              <a:spcAft>
                <a:spcPts val="300"/>
              </a:spcAft>
            </a:pPr>
            <a:r>
              <a:rPr sz="1600" b="0">
                <a:solidFill>
                  <a:srgbClr val="FFFFFF"/>
                </a:solidFill>
              </a:rPr>
              <a:t>The complete security pipeline is validated through controlled synthetic attack scenarios, while real Windows telemetry is operational through Live Monitor.</a:t>
            </a:r>
          </a:p>
        </p:txBody>
      </p:sp>
      <p:sp>
        <p:nvSpPr>
          <p:cNvPr id="7" name="Future Scope"/>
          <p:cNvSpPr/>
          <p:nvPr/>
        </p:nvSpPr>
        <p:spPr>
          <a:xfrm>
            <a:off x="5532120" y="1371600"/>
            <a:ext cx="6245352" cy="4892040"/>
          </a:xfrm>
          <a:prstGeom prst="roundRect">
            <a:avLst>
              <a:gd name="adj" fmla="val 6000"/>
            </a:avLst>
          </a:prstGeom>
          <a:solidFill>
            <a:srgbClr val="EAF3FB"/>
          </a:solidFill>
          <a:ln>
            <a:noFill/>
          </a:ln>
          <a:effectLst/>
        </p:spPr>
        <p:style>
          <a:lnRef idx="1">
            <a:schemeClr val="accent1"/>
          </a:lnRef>
          <a:fillRef idx="3">
            <a:schemeClr val="accent1"/>
          </a:fillRef>
          <a:effectRef idx="2">
            <a:schemeClr val="accent1"/>
          </a:effectRef>
          <a:fontRef idx="minor">
            <a:schemeClr val="lt1"/>
          </a:fontRef>
        </p:style>
        <p:txBody>
          <a:bodyPr wrap="square" lIns="228600" rIns="228600" rtlCol="0" anchor="t"/>
          <a:lstStyle/>
          <a:p>
            <a:pPr algn="l">
              <a:spcAft>
                <a:spcPts val="600"/>
              </a:spcAft>
            </a:pPr>
            <a:r>
              <a:rPr sz="2300" b="1" dirty="0">
                <a:solidFill>
                  <a:srgbClr val="1F4E79"/>
                </a:solidFill>
              </a:rPr>
              <a:t>Future scope</a:t>
            </a:r>
          </a:p>
          <a:p>
            <a:pPr algn="l">
              <a:spcAft>
                <a:spcPts val="0"/>
              </a:spcAft>
            </a:pPr>
            <a:r>
              <a:rPr sz="1550" b="1" dirty="0">
                <a:solidFill>
                  <a:srgbClr val="2E8B9A"/>
                </a:solidFill>
              </a:rPr>
              <a:t>Real-Time Security Pipeline</a:t>
            </a:r>
          </a:p>
          <a:p>
            <a:pPr algn="l">
              <a:spcAft>
                <a:spcPts val="600"/>
              </a:spcAft>
            </a:pPr>
            <a:r>
              <a:rPr sz="1450" b="0" dirty="0">
                <a:solidFill>
                  <a:srgbClr val="222222"/>
                </a:solidFill>
              </a:rPr>
              <a:t>Extend real telemetry into validated detection, correlation and AI reasoning.</a:t>
            </a:r>
          </a:p>
          <a:p>
            <a:pPr algn="l">
              <a:spcAft>
                <a:spcPts val="0"/>
              </a:spcAft>
            </a:pPr>
            <a:r>
              <a:rPr lang="en-US" sz="1550" b="1" dirty="0">
                <a:solidFill>
                  <a:srgbClr val="2E8B9A"/>
                </a:solidFill>
              </a:rPr>
              <a:t>Model Evaluation on Real Data</a:t>
            </a:r>
          </a:p>
          <a:p>
            <a:pPr algn="l">
              <a:spcAft>
                <a:spcPts val="600"/>
              </a:spcAft>
            </a:pPr>
            <a:r>
              <a:rPr lang="en-US" sz="1450" b="0" dirty="0">
                <a:solidFill>
                  <a:srgbClr val="222222"/>
                </a:solidFill>
              </a:rPr>
              <a:t>Measure precision, recall, F1, false-positive rate and latency on independently labeled data.</a:t>
            </a:r>
          </a:p>
          <a:p>
            <a:pPr algn="l">
              <a:spcAft>
                <a:spcPts val="0"/>
              </a:spcAft>
            </a:pPr>
            <a:r>
              <a:rPr sz="1550" b="1" dirty="0">
                <a:solidFill>
                  <a:srgbClr val="2E8B9A"/>
                </a:solidFill>
              </a:rPr>
              <a:t>Cross-System Deployment</a:t>
            </a:r>
          </a:p>
          <a:p>
            <a:pPr algn="l">
              <a:spcAft>
                <a:spcPts val="600"/>
              </a:spcAft>
            </a:pPr>
            <a:r>
              <a:rPr sz="1450" b="0" dirty="0">
                <a:solidFill>
                  <a:srgbClr val="222222"/>
                </a:solidFill>
              </a:rPr>
              <a:t>Validate collectors and detection on additional Windows endpoints.</a:t>
            </a:r>
          </a:p>
          <a:p>
            <a:pPr algn="l">
              <a:spcAft>
                <a:spcPts val="0"/>
              </a:spcAft>
            </a:pPr>
            <a:r>
              <a:rPr lang="en-US" sz="1550" b="1" dirty="0">
                <a:solidFill>
                  <a:srgbClr val="2E8B9A"/>
                </a:solidFill>
              </a:rPr>
              <a:t>Graph &amp; Temporal AI</a:t>
            </a:r>
          </a:p>
          <a:p>
            <a:pPr algn="l">
              <a:spcAft>
                <a:spcPts val="600"/>
              </a:spcAft>
            </a:pPr>
            <a:r>
              <a:rPr lang="en-US" sz="1450" b="0" dirty="0">
                <a:solidFill>
                  <a:srgbClr val="222222"/>
                </a:solidFill>
              </a:rPr>
              <a:t>Expand sequence and relationship-based attack detection.</a:t>
            </a:r>
          </a:p>
          <a:p>
            <a:pPr algn="l">
              <a:spcAft>
                <a:spcPts val="0"/>
              </a:spcAft>
            </a:pPr>
            <a:r>
              <a:rPr sz="1550" b="1" dirty="0">
                <a:solidFill>
                  <a:srgbClr val="2E8B9A"/>
                </a:solidFill>
              </a:rPr>
              <a:t>Safe Response Validation</a:t>
            </a:r>
          </a:p>
          <a:p>
            <a:pPr algn="l">
              <a:spcAft>
                <a:spcPts val="600"/>
              </a:spcAft>
            </a:pPr>
            <a:r>
              <a:rPr sz="1450" b="0" dirty="0">
                <a:solidFill>
                  <a:srgbClr val="222222"/>
                </a:solidFill>
              </a:rPr>
              <a:t>Evaluate real containment only in isolated test environments.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Acknowledgement</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11" name="Acknowledgement 11"/>
          <p:cNvSpPr/>
          <p:nvPr/>
        </p:nvSpPr>
        <p:spPr>
          <a:xfrm>
            <a:off x="411480" y="1463040"/>
            <a:ext cx="11365992" cy="3566160"/>
          </a:xfrm>
          <a:prstGeom prst="roundRect">
            <a:avLst>
              <a:gd name="adj" fmla="val 6000"/>
            </a:avLst>
          </a:prstGeom>
          <a:solidFill>
            <a:srgbClr val="EAF3FB"/>
          </a:solidFill>
          <a:ln>
            <a:noFill/>
          </a:ln>
          <a:effectLst>
            <a:outerShdw blurRad="63500" dist="25400" dir="5400000" algn="t" rotWithShape="0">
              <a:srgbClr val="000000">
                <a:alpha val="16000"/>
              </a:srgbClr>
            </a:outerShdw>
          </a:effectLst>
        </p:spPr>
        <p:txBody>
          <a:bodyPr wrap="square" lIns="457200" tIns="182880" rIns="457200" bIns="182880" rtlCol="0" anchor="ctr">
            <a:noAutofit/>
          </a:bodyPr>
          <a:lstStyle/>
          <a:p>
            <a:pPr marL="0" indent="0" algn="just">
              <a:spcBef>
                <a:spcPts val="0"/>
              </a:spcBef>
              <a:spcAft>
                <a:spcPts val="0"/>
              </a:spcAft>
              <a:buNone/>
            </a:pPr>
            <a:r>
              <a:rPr lang="en-US" sz="2400" b="0" i="0" dirty="0">
                <a:solidFill>
                  <a:srgbClr val="262626"/>
                </a:solidFill>
                <a:latin typeface="+mn-lt"/>
                <a:cs typeface="Calibri"/>
              </a:rPr>
              <a:t>I would like to express my sincere gratitude to my guide, department and institution for their valuable guidance, encouragement and support throughout the development of this individual project, Sentinel-X: Autonomous Multi-Agent Cybersecurity Defense &amp; Incident Intelligence Platform.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Title"/>
          <p:cNvSpPr txBox="1"/>
          <p:nvPr/>
        </p:nvSpPr>
        <p:spPr>
          <a:xfrm>
            <a:off x="255996" y="502545"/>
            <a:ext cx="11200000" cy="646331"/>
          </a:xfrm>
          <a:prstGeom prst="rect">
            <a:avLst/>
          </a:prstGeom>
          <a:noFill/>
        </p:spPr>
        <p:txBody>
          <a:bodyPr wrap="square" rtlCol="0">
            <a:noAutofit/>
          </a:bodyPr>
          <a:lstStyle/>
          <a:p>
            <a:r>
              <a:rPr lang="en-US" sz="3600" b="1" dirty="0">
                <a:solidFill>
                  <a:srgbClr val="2D4E6A"/>
                </a:solidFill>
                <a:latin typeface="Calibri"/>
                <a:cs typeface="Calibri"/>
              </a:rPr>
              <a:t>References</a:t>
            </a:r>
          </a:p>
        </p:txBody>
      </p:sp>
      <p:cxnSp>
        <p:nvCxnSpPr>
          <p:cNvPr id="5" name="Title Rule"/>
          <p:cNvCxnSpPr/>
          <p:nvPr/>
        </p:nvCxnSpPr>
        <p:spPr>
          <a:xfrm>
            <a:off x="221274" y="1191756"/>
            <a:ext cx="7305799" cy="0"/>
          </a:xfrm>
          <a:prstGeom prst="line">
            <a:avLst/>
          </a:prstGeom>
          <a:ln w="28575">
            <a:solidFill>
              <a:schemeClr val="accent6"/>
            </a:solidFill>
          </a:ln>
        </p:spPr>
      </p:cxnSp>
      <p:sp>
        <p:nvSpPr>
          <p:cNvPr id="4" name="Header Text"/>
          <p:cNvSpPr txBox="1"/>
          <p:nvPr/>
        </p:nvSpPr>
        <p:spPr>
          <a:xfrm>
            <a:off x="3612630" y="57036"/>
            <a:ext cx="8579372" cy="400000"/>
          </a:xfrm>
          <a:prstGeom prst="rect">
            <a:avLst/>
          </a:prstGeom>
          <a:noFill/>
        </p:spPr>
        <p:txBody>
          <a:bodyPr wrap="square" rtlCol="0">
            <a:noAutofit/>
          </a:bodyPr>
          <a:lstStyle/>
          <a:p>
            <a:pPr algn="ctr"/>
            <a:r>
              <a:rPr lang="en-US" sz="1300" b="1" dirty="0">
                <a:solidFill>
                  <a:srgbClr val="FFFFFF"/>
                </a:solidFill>
                <a:cs typeface="Calibri"/>
              </a:rPr>
              <a:t>Sentinel-X: Autonomous Multi-Agent Cybersecurity Defense &amp; Incident Intelligence Platform</a:t>
            </a:r>
          </a:p>
        </p:txBody>
      </p:sp>
      <p:sp>
        <p:nvSpPr>
          <p:cNvPr id="11" name="TextBox 11"/>
          <p:cNvSpPr txBox="1"/>
          <p:nvPr/>
        </p:nvSpPr>
        <p:spPr>
          <a:xfrm>
            <a:off x="411480" y="1463040"/>
            <a:ext cx="11365992" cy="4389120"/>
          </a:xfrm>
          <a:prstGeom prst="rect">
            <a:avLst/>
          </a:prstGeom>
          <a:noFill/>
          <a:ln>
            <a:noFill/>
          </a:ln>
        </p:spPr>
        <p:txBody>
          <a:bodyPr wrap="square" lIns="45720" tIns="27432" rIns="45720" bIns="27432" rtlCol="0" anchor="t">
            <a:noAutofit/>
          </a:bodyPr>
          <a:lstStyle/>
          <a:p>
            <a:pPr marL="0" indent="0" algn="l">
              <a:spcBef>
                <a:spcPts val="0"/>
              </a:spcBef>
              <a:spcAft>
                <a:spcPts val="800"/>
              </a:spcAft>
              <a:buNone/>
            </a:pPr>
            <a:r>
              <a:rPr lang="en-US" sz="1600" b="1" i="0" dirty="0">
                <a:solidFill>
                  <a:srgbClr val="2E8B9A"/>
                </a:solidFill>
                <a:latin typeface="+mn-lt"/>
                <a:cs typeface="Calibri"/>
              </a:rPr>
              <a:t>[1]  </a:t>
            </a:r>
            <a:r>
              <a:rPr lang="en-US" sz="1600" b="0" i="0" dirty="0">
                <a:solidFill>
                  <a:srgbClr val="262626"/>
                </a:solidFill>
                <a:latin typeface="+mn-lt"/>
                <a:cs typeface="Calibri"/>
              </a:rPr>
              <a:t>Liu, F. T., Ting, K. M., Zhou, Z.-H. (2008). Isolation Forest. IEEE ICDM.</a:t>
            </a:r>
          </a:p>
          <a:p>
            <a:pPr marL="0" indent="0" algn="l">
              <a:spcBef>
                <a:spcPts val="0"/>
              </a:spcBef>
              <a:spcAft>
                <a:spcPts val="800"/>
              </a:spcAft>
              <a:buNone/>
            </a:pPr>
            <a:r>
              <a:rPr lang="en-US" sz="1600" b="1" i="0" dirty="0">
                <a:solidFill>
                  <a:srgbClr val="2E8B9A"/>
                </a:solidFill>
                <a:latin typeface="+mn-lt"/>
                <a:cs typeface="Calibri"/>
              </a:rPr>
              <a:t>[2]  </a:t>
            </a:r>
            <a:r>
              <a:rPr lang="en-US" sz="1600" b="0" i="0" dirty="0">
                <a:solidFill>
                  <a:srgbClr val="262626"/>
                </a:solidFill>
                <a:latin typeface="+mn-lt"/>
                <a:cs typeface="Calibri"/>
              </a:rPr>
              <a:t>Vaswani, A. et al. (2017). Attention Is All You Need. NeurIPS.</a:t>
            </a:r>
          </a:p>
          <a:p>
            <a:pPr marL="0" indent="0" algn="l">
              <a:spcBef>
                <a:spcPts val="0"/>
              </a:spcBef>
              <a:spcAft>
                <a:spcPts val="800"/>
              </a:spcAft>
              <a:buNone/>
            </a:pPr>
            <a:r>
              <a:rPr lang="en-US" sz="1600" b="1" i="0" dirty="0">
                <a:solidFill>
                  <a:srgbClr val="2E8B9A"/>
                </a:solidFill>
                <a:latin typeface="+mn-lt"/>
                <a:cs typeface="Calibri"/>
              </a:rPr>
              <a:t>[3]  </a:t>
            </a:r>
            <a:r>
              <a:rPr lang="en-US" sz="1600" b="0" i="0" dirty="0">
                <a:solidFill>
                  <a:srgbClr val="262626"/>
                </a:solidFill>
                <a:latin typeface="+mn-lt"/>
                <a:cs typeface="Calibri"/>
              </a:rPr>
              <a:t>Anderson, H. S., Roth, P. (2018). EMBER: An Open Dataset for Training Static PE Malware Machine Learning Models.</a:t>
            </a:r>
          </a:p>
          <a:p>
            <a:pPr marL="0" indent="0" algn="l">
              <a:spcBef>
                <a:spcPts val="0"/>
              </a:spcBef>
              <a:spcAft>
                <a:spcPts val="800"/>
              </a:spcAft>
              <a:buNone/>
            </a:pPr>
            <a:r>
              <a:rPr lang="en-US" sz="1600" b="1" i="0" dirty="0">
                <a:solidFill>
                  <a:srgbClr val="2E8B9A"/>
                </a:solidFill>
                <a:latin typeface="+mn-lt"/>
                <a:cs typeface="Calibri"/>
              </a:rPr>
              <a:t>[4]  </a:t>
            </a:r>
            <a:r>
              <a:rPr lang="en-US" sz="1600" b="0" i="0" dirty="0">
                <a:solidFill>
                  <a:srgbClr val="262626"/>
                </a:solidFill>
                <a:latin typeface="+mn-lt"/>
                <a:cs typeface="Calibri"/>
              </a:rPr>
              <a:t>Sharafaldin, I., Lashkari, A. H., Ghorbani, A. A. (2018). CICIDS2017.</a:t>
            </a:r>
          </a:p>
          <a:p>
            <a:pPr marL="0" indent="0" algn="l">
              <a:spcBef>
                <a:spcPts val="0"/>
              </a:spcBef>
              <a:spcAft>
                <a:spcPts val="800"/>
              </a:spcAft>
              <a:buNone/>
            </a:pPr>
            <a:r>
              <a:rPr lang="en-US" sz="1600" b="1" i="0" dirty="0">
                <a:solidFill>
                  <a:srgbClr val="2E8B9A"/>
                </a:solidFill>
                <a:latin typeface="+mn-lt"/>
                <a:cs typeface="Calibri"/>
              </a:rPr>
              <a:t>[5]  </a:t>
            </a:r>
            <a:r>
              <a:rPr lang="en-US" sz="1600" b="0" i="0" dirty="0">
                <a:solidFill>
                  <a:srgbClr val="262626"/>
                </a:solidFill>
                <a:latin typeface="+mn-lt"/>
                <a:cs typeface="Calibri"/>
              </a:rPr>
              <a:t>Chen, T., Guestrin, C. (2016). XGBoost: A Scalable Tree Boosting System.</a:t>
            </a:r>
          </a:p>
          <a:p>
            <a:pPr marL="0" indent="0" algn="l">
              <a:spcBef>
                <a:spcPts val="0"/>
              </a:spcBef>
              <a:spcAft>
                <a:spcPts val="800"/>
              </a:spcAft>
              <a:buNone/>
            </a:pPr>
            <a:r>
              <a:rPr lang="en-US" sz="1600" b="1" i="0" dirty="0">
                <a:solidFill>
                  <a:srgbClr val="2E8B9A"/>
                </a:solidFill>
                <a:latin typeface="+mn-lt"/>
                <a:cs typeface="Calibri"/>
              </a:rPr>
              <a:t>[6]  </a:t>
            </a:r>
            <a:r>
              <a:rPr lang="en-US" sz="1600" b="0" i="0" dirty="0">
                <a:solidFill>
                  <a:srgbClr val="262626"/>
                </a:solidFill>
                <a:latin typeface="+mn-lt"/>
                <a:cs typeface="Calibri"/>
              </a:rPr>
              <a:t>FastAPI Documentation.</a:t>
            </a:r>
          </a:p>
          <a:p>
            <a:pPr marL="0" indent="0" algn="l">
              <a:spcBef>
                <a:spcPts val="0"/>
              </a:spcBef>
              <a:spcAft>
                <a:spcPts val="800"/>
              </a:spcAft>
              <a:buNone/>
            </a:pPr>
            <a:r>
              <a:rPr lang="en-US" sz="1600" b="1" i="0" dirty="0">
                <a:solidFill>
                  <a:srgbClr val="2E8B9A"/>
                </a:solidFill>
                <a:latin typeface="+mn-lt"/>
                <a:cs typeface="Calibri"/>
              </a:rPr>
              <a:t>[7]  </a:t>
            </a:r>
            <a:r>
              <a:rPr lang="en-US" sz="1600" b="0" i="0" dirty="0">
                <a:solidFill>
                  <a:srgbClr val="262626"/>
                </a:solidFill>
                <a:latin typeface="+mn-lt"/>
                <a:cs typeface="Calibri"/>
              </a:rPr>
              <a:t>React.js Documentation.</a:t>
            </a:r>
          </a:p>
          <a:p>
            <a:pPr marL="0" indent="0" algn="l">
              <a:spcBef>
                <a:spcPts val="0"/>
              </a:spcBef>
              <a:spcAft>
                <a:spcPts val="800"/>
              </a:spcAft>
              <a:buNone/>
            </a:pPr>
            <a:r>
              <a:rPr lang="en-US" sz="1600" b="1" i="0" dirty="0">
                <a:solidFill>
                  <a:srgbClr val="2E8B9A"/>
                </a:solidFill>
                <a:latin typeface="+mn-lt"/>
                <a:cs typeface="Calibri"/>
              </a:rPr>
              <a:t>[8]  </a:t>
            </a:r>
            <a:r>
              <a:rPr lang="en-US" sz="1600" b="0" i="0" dirty="0">
                <a:solidFill>
                  <a:srgbClr val="262626"/>
                </a:solidFill>
                <a:latin typeface="+mn-lt"/>
                <a:cs typeface="Calibri"/>
              </a:rPr>
              <a:t>PyTorch Documentation.</a:t>
            </a:r>
          </a:p>
        </p:txBody>
      </p:sp>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426</TotalTime>
  <Words>2432</Words>
  <Application>Microsoft Office PowerPoint</Application>
  <PresentationFormat>Widescreen</PresentationFormat>
  <Paragraphs>385</Paragraphs>
  <Slides>17</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(Body)</vt:lpstr>
      <vt:lpstr>Calibri Light</vt:lpstr>
      <vt:lpstr>Consolas</vt:lpstr>
      <vt:lpstr>Frutiger 45 bold</vt:lpstr>
      <vt:lpstr>Frutiger LT Pro 45 Light</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HARI PRASATH</dc:creator>
  <cp:lastModifiedBy>radha gohil</cp:lastModifiedBy>
  <cp:revision>27</cp:revision>
  <dcterms:created xsi:type="dcterms:W3CDTF">2024-05-13T10:33:11Z</dcterms:created>
  <dcterms:modified xsi:type="dcterms:W3CDTF">2026-10-09T02:19:04Z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c52bb50-aef2-4dc8-bb7f-e0da22648362_Enabled">
    <vt:lpwstr>true</vt:lpwstr>
  </property>
  <property fmtid="{D5CDD505-2E9C-101B-9397-08002B2CF9AE}" pid="3" name="MSIP_Label_ac52bb50-aef2-4dc8-bb7f-e0da22648362_SetDate">
    <vt:lpwstr>2025-08-25T08:11:33Z</vt:lpwstr>
  </property>
  <property fmtid="{D5CDD505-2E9C-101B-9397-08002B2CF9AE}" pid="4" name="MSIP_Label_ac52bb50-aef2-4dc8-bb7f-e0da22648362_Method">
    <vt:lpwstr>Standard</vt:lpwstr>
  </property>
  <property fmtid="{D5CDD505-2E9C-101B-9397-08002B2CF9AE}" pid="5" name="MSIP_Label_ac52bb50-aef2-4dc8-bb7f-e0da22648362_Name">
    <vt:lpwstr>ac52bb50-aef2-4dc8-bb7f-e0da22648362</vt:lpwstr>
  </property>
  <property fmtid="{D5CDD505-2E9C-101B-9397-08002B2CF9AE}" pid="6" name="MSIP_Label_ac52bb50-aef2-4dc8-bb7f-e0da22648362_SiteId">
    <vt:lpwstr>264b9899-fe1b-430b-9509-2154878d5774</vt:lpwstr>
  </property>
  <property fmtid="{D5CDD505-2E9C-101B-9397-08002B2CF9AE}" pid="7" name="MSIP_Label_ac52bb50-aef2-4dc8-bb7f-e0da22648362_ActionId">
    <vt:lpwstr>5a5317b9-6049-4f38-9ea6-5786aca62bc4</vt:lpwstr>
  </property>
  <property fmtid="{D5CDD505-2E9C-101B-9397-08002B2CF9AE}" pid="8" name="MSIP_Label_ac52bb50-aef2-4dc8-bb7f-e0da22648362_ContentBits">
    <vt:lpwstr>2</vt:lpwstr>
  </property>
  <property fmtid="{D5CDD505-2E9C-101B-9397-08002B2CF9AE}" pid="9" name="MSIP_Label_ac52bb50-aef2-4dc8-bb7f-e0da22648362_Tag">
    <vt:lpwstr>10, 3, 0, 1</vt:lpwstr>
  </property>
  <property fmtid="{D5CDD505-2E9C-101B-9397-08002B2CF9AE}" pid="10" name="ClassificationContentMarkingFooterLocations">
    <vt:lpwstr>1_Office Theme:8</vt:lpwstr>
  </property>
  <property fmtid="{D5CDD505-2E9C-101B-9397-08002B2CF9AE}" pid="11" name="ClassificationContentMarkingFooterText">
    <vt:lpwstr>Sensitivity: LNT Construction Internal Use</vt:lpwstr>
  </property>
</Properties>
</file>